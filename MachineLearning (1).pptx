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60">
          <p15:clr>
            <a:srgbClr val="A4A3A4"/>
          </p15:clr>
        </p15:guide>
        <p15:guide id="2" orient="horz" pos="1620">
          <p15:clr>
            <a:srgbClr val="A4A3A4"/>
          </p15:clr>
        </p15:guide>
        <p15:guide id="3" pos="2880">
          <p15:clr>
            <a:srgbClr val="A4A3A4"/>
          </p15:clr>
        </p15:guide>
      </p15:sldGuideLst>
    </p:ext>
    <p:ext uri="GoogleSlidesCustomDataVersion2">
      <go:slidesCustomData xmlns:go="http://customooxmlschemas.google.com/" r:id="rId24" roundtripDataSignature="AMtx7mhQ45IGUurS8KgQrsVGDu2wuNw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60" orient="horz"/>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customschemas.google.com/relationships/presentationmetadata" Target="metadata"/><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f55fae002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f55fae002_0_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lang="en-US" sz="1100">
                <a:latin typeface="Arial"/>
                <a:ea typeface="Arial"/>
                <a:cs typeface="Arial"/>
                <a:sym typeface="Arial"/>
              </a:rPr>
              <a:t>Hi everyone, my name is Sarah Araujo.</a:t>
            </a:r>
            <a:endParaRPr sz="11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lang="en-US" sz="1100">
                <a:latin typeface="Arial"/>
                <a:ea typeface="Arial"/>
                <a:cs typeface="Arial"/>
                <a:sym typeface="Arial"/>
              </a:rPr>
              <a:t>Today I’ll present my final project, </a:t>
            </a:r>
            <a:r>
              <a:rPr b="1" lang="en-US" sz="1100">
                <a:latin typeface="Arial"/>
                <a:ea typeface="Arial"/>
                <a:cs typeface="Arial"/>
                <a:sym typeface="Arial"/>
              </a:rPr>
              <a:t>Brazil Extreme Rainfall Intensity Forecaster – B-ERIF</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360"/>
              </a:spcBef>
              <a:spcAft>
                <a:spcPts val="0"/>
              </a:spcAft>
              <a:buNone/>
            </a:pPr>
            <a:r>
              <a:rPr lang="en-US" sz="1100">
                <a:latin typeface="Arial"/>
                <a:ea typeface="Arial"/>
                <a:cs typeface="Arial"/>
                <a:sym typeface="Arial"/>
              </a:rPr>
              <a:t>I’ll show how I used machine learning to model extreme rainfall in Rio Grande do Sul and to explore whether we can </a:t>
            </a:r>
            <a:r>
              <a:rPr b="1" lang="en-US" sz="1100">
                <a:latin typeface="Arial"/>
                <a:ea typeface="Arial"/>
                <a:cs typeface="Arial"/>
                <a:sym typeface="Arial"/>
              </a:rPr>
              <a:t>recalibrate IDF curves</a:t>
            </a:r>
            <a:r>
              <a:rPr lang="en-US" sz="1100">
                <a:latin typeface="Arial"/>
                <a:ea typeface="Arial"/>
                <a:cs typeface="Arial"/>
                <a:sym typeface="Arial"/>
              </a:rPr>
              <a:t> with ML</a:t>
            </a:r>
            <a:endParaRPr/>
          </a:p>
        </p:txBody>
      </p:sp>
      <p:sp>
        <p:nvSpPr>
          <p:cNvPr id="110" name="Google Shape;110;g3af55fae002_0_15: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7" name="Google Shape;11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motivation comes from the </a:t>
            </a:r>
            <a:r>
              <a:rPr b="1" lang="en-US" sz="1100">
                <a:latin typeface="Arial"/>
                <a:ea typeface="Arial"/>
                <a:cs typeface="Arial"/>
                <a:sym typeface="Arial"/>
              </a:rPr>
              <a:t>2024 floods in Rio Grande do Sul</a:t>
            </a:r>
            <a:r>
              <a:rPr lang="en-US" sz="1100">
                <a:latin typeface="Arial"/>
                <a:ea typeface="Arial"/>
                <a:cs typeface="Arial"/>
                <a:sym typeface="Arial"/>
              </a:rPr>
              <a:t>, which caused severe damage and exposed how vulnerable cities are to prolonged heavy rainfall.</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Urban drainage design still relies on </a:t>
            </a:r>
            <a:r>
              <a:rPr b="1" lang="en-US" sz="1100">
                <a:latin typeface="Arial"/>
                <a:ea typeface="Arial"/>
                <a:cs typeface="Arial"/>
                <a:sym typeface="Arial"/>
              </a:rPr>
              <a:t>static IDF curves</a:t>
            </a:r>
            <a:r>
              <a:rPr lang="en-US" sz="1100">
                <a:latin typeface="Arial"/>
                <a:ea typeface="Arial"/>
                <a:cs typeface="Arial"/>
                <a:sym typeface="Arial"/>
              </a:rPr>
              <a:t>, often based on older data and stationarity assumptions.</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So my guiding question was: </a:t>
            </a:r>
            <a:r>
              <a:rPr b="1" lang="en-US" sz="1100">
                <a:latin typeface="Arial"/>
                <a:ea typeface="Arial"/>
                <a:cs typeface="Arial"/>
                <a:sym typeface="Arial"/>
              </a:rPr>
              <a:t>Can machine learning help us better understand, and potentially recalibrate, rainfall extremes in this region?</a:t>
            </a:r>
            <a:endParaRPr sz="1100">
              <a:latin typeface="Arial"/>
              <a:ea typeface="Arial"/>
              <a:cs typeface="Arial"/>
              <a:sym typeface="Arial"/>
            </a:endParaRPr>
          </a:p>
        </p:txBody>
      </p:sp>
      <p:sp>
        <p:nvSpPr>
          <p:cNvPr id="118" name="Google Shape;118;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af26abed01_0_2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 name="Google Shape;129;g3af26abed01_0_2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Previous work has already used </a:t>
            </a:r>
            <a:r>
              <a:rPr b="1" lang="en-US" sz="1100">
                <a:latin typeface="Arial"/>
                <a:ea typeface="Arial"/>
                <a:cs typeface="Arial"/>
                <a:sym typeface="Arial"/>
              </a:rPr>
              <a:t>artificial neural networks as surrogates for IDF curves</a:t>
            </a:r>
            <a:r>
              <a:rPr lang="en-US" sz="1100">
                <a:latin typeface="Arial"/>
                <a:ea typeface="Arial"/>
                <a:cs typeface="Arial"/>
                <a:sym typeface="Arial"/>
              </a:rPr>
              <a:t>, learning the mapping directly from rainfall data to intensity–duration–frequency relationships.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suggests that machine learning can be used not only to </a:t>
            </a:r>
            <a:r>
              <a:rPr b="1" lang="en-US" sz="1100">
                <a:latin typeface="Arial"/>
                <a:ea typeface="Arial"/>
                <a:cs typeface="Arial"/>
                <a:sym typeface="Arial"/>
              </a:rPr>
              <a:t>fit</a:t>
            </a:r>
            <a:r>
              <a:rPr lang="en-US" sz="1100">
                <a:latin typeface="Arial"/>
                <a:ea typeface="Arial"/>
                <a:cs typeface="Arial"/>
                <a:sym typeface="Arial"/>
              </a:rPr>
              <a:t> extremes with traditional distributions, but potentially to </a:t>
            </a:r>
            <a:r>
              <a:rPr b="1" lang="en-US" sz="1100">
                <a:latin typeface="Arial"/>
                <a:ea typeface="Arial"/>
                <a:cs typeface="Arial"/>
                <a:sym typeface="Arial"/>
              </a:rPr>
              <a:t>recalibrate</a:t>
            </a:r>
            <a:r>
              <a:rPr lang="en-US" sz="1100">
                <a:latin typeface="Arial"/>
                <a:ea typeface="Arial"/>
                <a:cs typeface="Arial"/>
                <a:sym typeface="Arial"/>
              </a:rPr>
              <a:t> IDF curves under new conditions, like climate change or when new data sets become available.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My project builds on this idea, but focuses specifically on </a:t>
            </a:r>
            <a:r>
              <a:rPr b="1" lang="en-US" sz="1100">
                <a:latin typeface="Arial"/>
                <a:ea typeface="Arial"/>
                <a:cs typeface="Arial"/>
                <a:sym typeface="Arial"/>
              </a:rPr>
              <a:t>Rio Grande do Sul</a:t>
            </a:r>
            <a:r>
              <a:rPr lang="en-US" sz="1100">
                <a:latin typeface="Arial"/>
                <a:ea typeface="Arial"/>
                <a:cs typeface="Arial"/>
                <a:sym typeface="Arial"/>
              </a:rPr>
              <a:t> and on recent extreme events, such as the 2024 floods.</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30" name="Google Shape;130;g3af26abed01_0_2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f55fae002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41" name="Google Shape;141;g3af55fae002_0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From this question, I defined four main objectives.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First, use ML models to </a:t>
            </a:r>
            <a:r>
              <a:rPr b="1" lang="en-US" sz="1100">
                <a:latin typeface="Arial"/>
                <a:ea typeface="Arial"/>
                <a:cs typeface="Arial"/>
                <a:sym typeface="Arial"/>
              </a:rPr>
              <a:t>forecast daily rainfall extremes</a:t>
            </a:r>
            <a:r>
              <a:rPr lang="en-US" sz="1100">
                <a:latin typeface="Arial"/>
                <a:ea typeface="Arial"/>
                <a:cs typeface="Arial"/>
                <a:sym typeface="Arial"/>
              </a:rPr>
              <a:t> in RS.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Second, train a </a:t>
            </a:r>
            <a:r>
              <a:rPr b="1" lang="en-US" sz="1100">
                <a:latin typeface="Arial"/>
                <a:ea typeface="Arial"/>
                <a:cs typeface="Arial"/>
                <a:sym typeface="Arial"/>
              </a:rPr>
              <a:t>VAE</a:t>
            </a:r>
            <a:r>
              <a:rPr lang="en-US" sz="1100">
                <a:latin typeface="Arial"/>
                <a:ea typeface="Arial"/>
                <a:cs typeface="Arial"/>
                <a:sym typeface="Arial"/>
              </a:rPr>
              <a:t> to generate </a:t>
            </a:r>
            <a:r>
              <a:rPr b="1" lang="en-US" sz="1100">
                <a:latin typeface="Arial"/>
                <a:ea typeface="Arial"/>
                <a:cs typeface="Arial"/>
                <a:sym typeface="Arial"/>
              </a:rPr>
              <a:t>synthetic annual maxima</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Third, derive </a:t>
            </a:r>
            <a:r>
              <a:rPr b="1" lang="en-US" sz="1100">
                <a:latin typeface="Arial"/>
                <a:ea typeface="Arial"/>
                <a:cs typeface="Arial"/>
                <a:sym typeface="Arial"/>
              </a:rPr>
              <a:t>ML-based IDF curves</a:t>
            </a:r>
            <a:r>
              <a:rPr lang="en-US" sz="1100">
                <a:latin typeface="Arial"/>
                <a:ea typeface="Arial"/>
                <a:cs typeface="Arial"/>
                <a:sym typeface="Arial"/>
              </a:rPr>
              <a:t> and compare them with observed curves.</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And finally, assess </a:t>
            </a:r>
            <a:r>
              <a:rPr b="1" lang="en-US" sz="1100">
                <a:latin typeface="Arial"/>
                <a:ea typeface="Arial"/>
                <a:cs typeface="Arial"/>
                <a:sym typeface="Arial"/>
              </a:rPr>
              <a:t>how far ML can go</a:t>
            </a:r>
            <a:r>
              <a:rPr lang="en-US" sz="1100">
                <a:latin typeface="Arial"/>
                <a:ea typeface="Arial"/>
                <a:cs typeface="Arial"/>
                <a:sym typeface="Arial"/>
              </a:rPr>
              <a:t> towards reliable IDF recalibration in this setting.</a:t>
            </a:r>
            <a:endParaRPr sz="1100">
              <a:latin typeface="Arial"/>
              <a:ea typeface="Arial"/>
              <a:cs typeface="Arial"/>
              <a:sym typeface="Arial"/>
            </a:endParaRPr>
          </a:p>
        </p:txBody>
      </p:sp>
      <p:sp>
        <p:nvSpPr>
          <p:cNvPr id="142" name="Google Shape;142;g3af55fae002_0_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f55fae002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f55fae002_0_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slide summarizes the </a:t>
            </a:r>
            <a:r>
              <a:rPr b="1" lang="en-US" sz="1100">
                <a:latin typeface="Arial"/>
                <a:ea typeface="Arial"/>
                <a:cs typeface="Arial"/>
                <a:sym typeface="Arial"/>
              </a:rPr>
              <a:t>B-ERIF pipeline</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 start with </a:t>
            </a:r>
            <a:r>
              <a:rPr b="1" lang="en-US" sz="1100">
                <a:latin typeface="Arial"/>
                <a:ea typeface="Arial"/>
                <a:cs typeface="Arial"/>
                <a:sym typeface="Arial"/>
              </a:rPr>
              <a:t>CHIRPS daily rainfall</a:t>
            </a:r>
            <a:r>
              <a:rPr lang="en-US" sz="1100">
                <a:latin typeface="Arial"/>
                <a:ea typeface="Arial"/>
                <a:cs typeface="Arial"/>
                <a:sym typeface="Arial"/>
              </a:rPr>
              <a:t> from 2000 to 2024 over RS, including the May 2024 flood window.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Then I preprocess and build features: RS-mean series, annual maxima, time features and rolling rainfall sums, and I split the data in time.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From there, the pipeline branches into </a:t>
            </a:r>
            <a:r>
              <a:rPr b="1" lang="en-US" sz="1100">
                <a:latin typeface="Arial"/>
                <a:ea typeface="Arial"/>
                <a:cs typeface="Arial"/>
                <a:sym typeface="Arial"/>
              </a:rPr>
              <a:t>supervised models</a:t>
            </a:r>
            <a:r>
              <a:rPr lang="en-US" sz="1100">
                <a:latin typeface="Arial"/>
                <a:ea typeface="Arial"/>
                <a:cs typeface="Arial"/>
                <a:sym typeface="Arial"/>
              </a:rPr>
              <a:t> – tree-based models, MLP and LSTM – and a </a:t>
            </a:r>
            <a:r>
              <a:rPr b="1" lang="en-US" sz="1100">
                <a:latin typeface="Arial"/>
                <a:ea typeface="Arial"/>
                <a:cs typeface="Arial"/>
                <a:sym typeface="Arial"/>
              </a:rPr>
              <a:t>VAE</a:t>
            </a:r>
            <a:r>
              <a:rPr lang="en-US" sz="1100">
                <a:latin typeface="Arial"/>
                <a:ea typeface="Arial"/>
                <a:cs typeface="Arial"/>
                <a:sym typeface="Arial"/>
              </a:rPr>
              <a:t> for annual maxima.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Finally, I use these outputs to build </a:t>
            </a:r>
            <a:r>
              <a:rPr b="1" lang="en-US" sz="1100">
                <a:latin typeface="Arial"/>
                <a:ea typeface="Arial"/>
                <a:cs typeface="Arial"/>
                <a:sym typeface="Arial"/>
              </a:rPr>
              <a:t>ML-based IDF curves</a:t>
            </a:r>
            <a:r>
              <a:rPr lang="en-US" sz="1100">
                <a:latin typeface="Arial"/>
                <a:ea typeface="Arial"/>
                <a:cs typeface="Arial"/>
                <a:sym typeface="Arial"/>
              </a:rPr>
              <a:t> and compare them with observed IDF and the 2024 flood event.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153" name="Google Shape;153;g3af55fae002_0_10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f55fae002_0_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f55fae002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g3af55fae002_0_32: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f26abed01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4" name="Google Shape;164;g3af26abed01_0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On the left you see a </a:t>
            </a:r>
            <a:r>
              <a:rPr b="1" lang="en-US" sz="1100">
                <a:latin typeface="Arial"/>
                <a:ea typeface="Arial"/>
                <a:cs typeface="Arial"/>
                <a:sym typeface="Arial"/>
              </a:rPr>
              <a:t>typical rainy day</a:t>
            </a:r>
            <a:r>
              <a:rPr lang="en-US" sz="1100">
                <a:latin typeface="Arial"/>
                <a:ea typeface="Arial"/>
                <a:cs typeface="Arial"/>
                <a:sym typeface="Arial"/>
              </a:rPr>
              <a:t>, where rainfall is patchy and mostly below 40 millimeters per day.</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On the right you see an </a:t>
            </a:r>
            <a:r>
              <a:rPr b="1" lang="en-US" sz="1100">
                <a:latin typeface="Arial"/>
                <a:ea typeface="Arial"/>
                <a:cs typeface="Arial"/>
                <a:sym typeface="Arial"/>
              </a:rPr>
              <a:t>extreme rainy day</a:t>
            </a:r>
            <a:r>
              <a:rPr lang="en-US" sz="1100">
                <a:latin typeface="Arial"/>
                <a:ea typeface="Arial"/>
                <a:cs typeface="Arial"/>
                <a:sym typeface="Arial"/>
              </a:rPr>
              <a:t>, May 2nd, 2024, when large areas of the state recorded more than </a:t>
            </a:r>
            <a:r>
              <a:rPr b="1" lang="en-US" sz="1100">
                <a:latin typeface="Arial"/>
                <a:ea typeface="Arial"/>
                <a:cs typeface="Arial"/>
                <a:sym typeface="Arial"/>
              </a:rPr>
              <a:t>100–150 millimeters in a single day</a:t>
            </a:r>
            <a:r>
              <a:rPr lang="en-US" sz="1100">
                <a:latin typeface="Arial"/>
                <a:ea typeface="Arial"/>
                <a:cs typeface="Arial"/>
                <a:sym typeface="Arial"/>
              </a:rPr>
              <a:t>, contributing to the recent floods.</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From this gridded product I also compute an </a:t>
            </a:r>
            <a:r>
              <a:rPr b="1" lang="en-US" sz="1100">
                <a:latin typeface="Arial"/>
                <a:ea typeface="Arial"/>
                <a:cs typeface="Arial"/>
                <a:sym typeface="Arial"/>
              </a:rPr>
              <a:t>RS-mean daily time series</a:t>
            </a:r>
            <a:r>
              <a:rPr lang="en-US" sz="1100">
                <a:latin typeface="Arial"/>
                <a:ea typeface="Arial"/>
                <a:cs typeface="Arial"/>
                <a:sym typeface="Arial"/>
              </a:rPr>
              <a:t>, which is what I later use to train the LSTM model.</a:t>
            </a:r>
            <a:endParaRPr sz="1100">
              <a:latin typeface="Arial"/>
              <a:ea typeface="Arial"/>
              <a:cs typeface="Arial"/>
              <a:sym typeface="Arial"/>
            </a:endParaRPr>
          </a:p>
        </p:txBody>
      </p:sp>
      <p:sp>
        <p:nvSpPr>
          <p:cNvPr id="165" name="Google Shape;165;g3af26abed01_0_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f26abed01_0_1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7" name="Google Shape;177;g3af26abed01_0_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This histogram shows the </a:t>
            </a:r>
            <a:r>
              <a:rPr b="1" lang="en-US" sz="1100">
                <a:latin typeface="Arial"/>
                <a:ea typeface="Arial"/>
                <a:cs typeface="Arial"/>
                <a:sym typeface="Arial"/>
              </a:rPr>
              <a:t>distribution of daily rainfall</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It’s highly </a:t>
            </a:r>
            <a:r>
              <a:rPr b="1" lang="en-US" sz="1100">
                <a:latin typeface="Arial"/>
                <a:ea typeface="Arial"/>
                <a:cs typeface="Arial"/>
                <a:sym typeface="Arial"/>
              </a:rPr>
              <a:t>skewed</a:t>
            </a:r>
            <a:r>
              <a:rPr lang="en-US" sz="1100">
                <a:latin typeface="Arial"/>
                <a:ea typeface="Arial"/>
                <a:cs typeface="Arial"/>
                <a:sym typeface="Arial"/>
              </a:rPr>
              <a:t>: many days with almost no rain, and relatively few high-rainfall events.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For ML, this means models tend to learn the ‘easy’ part of the distribution and </a:t>
            </a:r>
            <a:r>
              <a:rPr b="1" lang="en-US" sz="1100">
                <a:latin typeface="Arial"/>
                <a:ea typeface="Arial"/>
                <a:cs typeface="Arial"/>
                <a:sym typeface="Arial"/>
              </a:rPr>
              <a:t>struggle with the tail</a:t>
            </a:r>
            <a:r>
              <a:rPr lang="en-US" sz="1100">
                <a:latin typeface="Arial"/>
                <a:ea typeface="Arial"/>
                <a:cs typeface="Arial"/>
                <a:sym typeface="Arial"/>
              </a:rPr>
              <a:t>, which is exactly where extremes live.</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That motivates both the focus on </a:t>
            </a:r>
            <a:r>
              <a:rPr b="1" lang="en-US" sz="1100">
                <a:latin typeface="Arial"/>
                <a:ea typeface="Arial"/>
                <a:cs typeface="Arial"/>
                <a:sym typeface="Arial"/>
              </a:rPr>
              <a:t>annual maxima</a:t>
            </a:r>
            <a:r>
              <a:rPr lang="en-US" sz="1100">
                <a:latin typeface="Arial"/>
                <a:ea typeface="Arial"/>
                <a:cs typeface="Arial"/>
                <a:sym typeface="Arial"/>
              </a:rPr>
              <a:t> and some sampling choices in the training set.</a:t>
            </a:r>
            <a:endParaRPr sz="1100">
              <a:latin typeface="Arial"/>
              <a:ea typeface="Arial"/>
              <a:cs typeface="Arial"/>
              <a:sym typeface="Arial"/>
            </a:endParaRPr>
          </a:p>
        </p:txBody>
      </p:sp>
      <p:sp>
        <p:nvSpPr>
          <p:cNvPr id="178" name="Google Shape;178;g3af26abed01_0_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f26abed01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0" name="Google Shape;190;g3af26abed01_0_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sz="1100">
                <a:latin typeface="Arial"/>
                <a:ea typeface="Arial"/>
                <a:cs typeface="Arial"/>
                <a:sym typeface="Arial"/>
              </a:rPr>
              <a:t>For the supervised models, I use simple but meaningful features: </a:t>
            </a:r>
            <a:r>
              <a:rPr b="1" lang="en-US" sz="1100">
                <a:latin typeface="Arial"/>
                <a:ea typeface="Arial"/>
                <a:cs typeface="Arial"/>
                <a:sym typeface="Arial"/>
              </a:rPr>
              <a:t>year, month, day-of-year</a:t>
            </a:r>
            <a:r>
              <a:rPr lang="en-US" sz="1100">
                <a:latin typeface="Arial"/>
                <a:ea typeface="Arial"/>
                <a:cs typeface="Arial"/>
                <a:sym typeface="Arial"/>
              </a:rPr>
              <a:t>, spatial coordinates when working with the grid, and </a:t>
            </a:r>
            <a:r>
              <a:rPr b="1" lang="en-US" sz="1100">
                <a:latin typeface="Arial"/>
                <a:ea typeface="Arial"/>
                <a:cs typeface="Arial"/>
                <a:sym typeface="Arial"/>
              </a:rPr>
              <a:t>rolling rainfall sums</a:t>
            </a:r>
            <a:r>
              <a:rPr lang="en-US" sz="1100">
                <a:latin typeface="Arial"/>
                <a:ea typeface="Arial"/>
                <a:cs typeface="Arial"/>
                <a:sym typeface="Arial"/>
              </a:rPr>
              <a:t> over 1, 3, 5 and 7 days to capture persistence.</a:t>
            </a:r>
            <a:endParaRPr sz="1100">
              <a:latin typeface="Arial"/>
              <a:ea typeface="Arial"/>
              <a:cs typeface="Arial"/>
              <a:sym typeface="Arial"/>
            </a:endParaRPr>
          </a:p>
          <a:p>
            <a:pPr indent="0" lvl="0" marL="0" rtl="0" algn="l">
              <a:lnSpc>
                <a:spcPct val="115000"/>
              </a:lnSpc>
              <a:spcBef>
                <a:spcPts val="1200"/>
              </a:spcBef>
              <a:spcAft>
                <a:spcPts val="0"/>
              </a:spcAft>
              <a:buSzPts val="1100"/>
              <a:buNone/>
            </a:pPr>
            <a:r>
              <a:rPr lang="en-US" sz="1100">
                <a:latin typeface="Arial"/>
                <a:ea typeface="Arial"/>
                <a:cs typeface="Arial"/>
                <a:sym typeface="Arial"/>
              </a:rPr>
              <a:t>I apply a purely </a:t>
            </a:r>
            <a:r>
              <a:rPr b="1" lang="en-US" sz="1100">
                <a:latin typeface="Arial"/>
                <a:ea typeface="Arial"/>
                <a:cs typeface="Arial"/>
                <a:sym typeface="Arial"/>
              </a:rPr>
              <a:t>time-based split</a:t>
            </a:r>
            <a:r>
              <a:rPr lang="en-US" sz="1100">
                <a:latin typeface="Arial"/>
                <a:ea typeface="Arial"/>
                <a:cs typeface="Arial"/>
                <a:sym typeface="Arial"/>
              </a:rPr>
              <a:t>: training from 2000–2016, validation 2017–2020, and test 2021–2024.</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This avoids leakage from the future and makes the evaluation more realistic for forecasting and IDF analysis</a:t>
            </a:r>
            <a:endParaRPr b="1"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91" name="Google Shape;191;g3af26abed01_0_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f26abed01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4" name="Google Shape;204;g3af26abed01_0_1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On the model side, I test several </a:t>
            </a:r>
            <a:r>
              <a:rPr b="1" lang="en-US" sz="1100">
                <a:latin typeface="Arial"/>
                <a:ea typeface="Arial"/>
                <a:cs typeface="Arial"/>
                <a:sym typeface="Arial"/>
              </a:rPr>
              <a:t>regression models</a:t>
            </a:r>
            <a:r>
              <a:rPr lang="en-US" sz="1100">
                <a:latin typeface="Arial"/>
                <a:ea typeface="Arial"/>
                <a:cs typeface="Arial"/>
                <a:sym typeface="Arial"/>
              </a:rPr>
              <a:t>: a Decision Tree as a baseline, </a:t>
            </a:r>
            <a:r>
              <a:rPr b="1" lang="en-US" sz="1100">
                <a:latin typeface="Arial"/>
                <a:ea typeface="Arial"/>
                <a:cs typeface="Arial"/>
                <a:sym typeface="Arial"/>
              </a:rPr>
              <a:t>Random Forest</a:t>
            </a:r>
            <a:r>
              <a:rPr lang="en-US" sz="1100">
                <a:latin typeface="Arial"/>
                <a:ea typeface="Arial"/>
                <a:cs typeface="Arial"/>
                <a:sym typeface="Arial"/>
              </a:rPr>
              <a:t>, </a:t>
            </a:r>
            <a:r>
              <a:rPr b="1" lang="en-US" sz="1100">
                <a:latin typeface="Arial"/>
                <a:ea typeface="Arial"/>
                <a:cs typeface="Arial"/>
                <a:sym typeface="Arial"/>
              </a:rPr>
              <a:t>XGBoost</a:t>
            </a:r>
            <a:r>
              <a:rPr lang="en-US" sz="1100">
                <a:latin typeface="Arial"/>
                <a:ea typeface="Arial"/>
                <a:cs typeface="Arial"/>
                <a:sym typeface="Arial"/>
              </a:rPr>
              <a:t>, a shallow </a:t>
            </a:r>
            <a:r>
              <a:rPr b="1" lang="en-US" sz="1100">
                <a:latin typeface="Arial"/>
                <a:ea typeface="Arial"/>
                <a:cs typeface="Arial"/>
                <a:sym typeface="Arial"/>
              </a:rPr>
              <a:t>MLPRegressor</a:t>
            </a:r>
            <a:r>
              <a:rPr lang="en-US" sz="1100">
                <a:latin typeface="Arial"/>
                <a:ea typeface="Arial"/>
                <a:cs typeface="Arial"/>
                <a:sym typeface="Arial"/>
              </a:rPr>
              <a:t>, and an </a:t>
            </a:r>
            <a:r>
              <a:rPr b="1" lang="en-US" sz="1100">
                <a:latin typeface="Arial"/>
                <a:ea typeface="Arial"/>
                <a:cs typeface="Arial"/>
                <a:sym typeface="Arial"/>
              </a:rPr>
              <a:t>LSTM</a:t>
            </a:r>
            <a:r>
              <a:rPr lang="en-US" sz="1100">
                <a:latin typeface="Arial"/>
                <a:ea typeface="Arial"/>
                <a:cs typeface="Arial"/>
                <a:sym typeface="Arial"/>
              </a:rPr>
              <a:t> that takes 30 days of RS-mean rainfall and predicts the next day.</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For extremes, I train a </a:t>
            </a:r>
            <a:r>
              <a:rPr b="1" lang="en-US" sz="1100">
                <a:latin typeface="Arial"/>
                <a:ea typeface="Arial"/>
                <a:cs typeface="Arial"/>
                <a:sym typeface="Arial"/>
              </a:rPr>
              <a:t>Variational Autoencoder</a:t>
            </a:r>
            <a:r>
              <a:rPr lang="en-US" sz="1100">
                <a:latin typeface="Arial"/>
                <a:ea typeface="Arial"/>
                <a:cs typeface="Arial"/>
                <a:sym typeface="Arial"/>
              </a:rPr>
              <a:t> on the series of </a:t>
            </a:r>
            <a:r>
              <a:rPr b="1" lang="en-US" sz="1100">
                <a:latin typeface="Arial"/>
                <a:ea typeface="Arial"/>
                <a:cs typeface="Arial"/>
                <a:sym typeface="Arial"/>
              </a:rPr>
              <a:t>annual maximum daily rainfall</a:t>
            </a:r>
            <a:r>
              <a:rPr lang="en-US" sz="1100">
                <a:latin typeface="Arial"/>
                <a:ea typeface="Arial"/>
                <a:cs typeface="Arial"/>
                <a:sym typeface="Arial"/>
              </a:rPr>
              <a:t>, and use it to generate synthetic maxima.</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Because of RAM limits, all hyperparameter searches are intentionally small and done with </a:t>
            </a:r>
            <a:r>
              <a:rPr b="1" lang="en-US" sz="1100">
                <a:latin typeface="Arial"/>
                <a:ea typeface="Arial"/>
                <a:cs typeface="Arial"/>
                <a:sym typeface="Arial"/>
              </a:rPr>
              <a:t>RandomizedSearchCV</a:t>
            </a:r>
            <a:r>
              <a:rPr lang="en-US" sz="1100">
                <a:latin typeface="Arial"/>
                <a:ea typeface="Arial"/>
                <a:cs typeface="Arial"/>
                <a:sym typeface="Arial"/>
              </a:rPr>
              <a:t>.</a:t>
            </a:r>
            <a:endParaRPr sz="1100">
              <a:latin typeface="Arial"/>
              <a:ea typeface="Arial"/>
              <a:cs typeface="Arial"/>
              <a:sym typeface="Arial"/>
            </a:endParaRPr>
          </a:p>
        </p:txBody>
      </p:sp>
      <p:sp>
        <p:nvSpPr>
          <p:cNvPr id="205" name="Google Shape;205;g3af26abed01_0_1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f26abed01_0_1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7" name="Google Shape;217;g3af26abed01_0_1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This bar plot compares the </a:t>
            </a:r>
            <a:r>
              <a:rPr b="1" lang="en-US" sz="1100">
                <a:latin typeface="Arial"/>
                <a:ea typeface="Arial"/>
                <a:cs typeface="Arial"/>
                <a:sym typeface="Arial"/>
              </a:rPr>
              <a:t>test RMSE</a:t>
            </a:r>
            <a:r>
              <a:rPr lang="en-US" sz="1100">
                <a:latin typeface="Arial"/>
                <a:ea typeface="Arial"/>
                <a:cs typeface="Arial"/>
                <a:sym typeface="Arial"/>
              </a:rPr>
              <a:t> and R² across models.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tree-based models and the MLP all end up with </a:t>
            </a:r>
            <a:r>
              <a:rPr b="1" lang="en-US" sz="1100">
                <a:latin typeface="Arial"/>
                <a:ea typeface="Arial"/>
                <a:cs typeface="Arial"/>
                <a:sym typeface="Arial"/>
              </a:rPr>
              <a:t>similar RMSEs, around 7.5 mm/day, and R² close to zero</a:t>
            </a:r>
            <a:r>
              <a:rPr lang="en-US" sz="1100">
                <a:latin typeface="Arial"/>
                <a:ea typeface="Arial"/>
                <a:cs typeface="Arial"/>
                <a:sym typeface="Arial"/>
              </a:rPr>
              <a:t>, meaning they mostly reproduce the </a:t>
            </a:r>
            <a:r>
              <a:rPr b="1" lang="en-US" sz="1100">
                <a:latin typeface="Arial"/>
                <a:ea typeface="Arial"/>
                <a:cs typeface="Arial"/>
                <a:sym typeface="Arial"/>
              </a:rPr>
              <a:t>same average</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LSTM_point</a:t>
            </a:r>
            <a:r>
              <a:rPr lang="en-US" sz="1100">
                <a:latin typeface="Arial"/>
                <a:ea typeface="Arial"/>
                <a:cs typeface="Arial"/>
                <a:sym typeface="Arial"/>
              </a:rPr>
              <a:t>, evaluated on the RS-mean series, has a </a:t>
            </a:r>
            <a:r>
              <a:rPr b="1" lang="en-US" sz="1100">
                <a:latin typeface="Arial"/>
                <a:ea typeface="Arial"/>
                <a:cs typeface="Arial"/>
                <a:sym typeface="Arial"/>
              </a:rPr>
              <a:t>much lower RMSE</a:t>
            </a:r>
            <a:r>
              <a:rPr lang="en-US" sz="1100">
                <a:latin typeface="Arial"/>
                <a:ea typeface="Arial"/>
                <a:cs typeface="Arial"/>
                <a:sym typeface="Arial"/>
              </a:rPr>
              <a:t>, around 1 mm/day when converted back to mm.</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So, in terms of overall daily skill, LSTM clearly helps – but this doesn’t automatically mean it fixes the </a:t>
            </a:r>
            <a:r>
              <a:rPr b="1" lang="en-US" sz="1100">
                <a:latin typeface="Arial"/>
                <a:ea typeface="Arial"/>
                <a:cs typeface="Arial"/>
                <a:sym typeface="Arial"/>
              </a:rPr>
              <a:t>extreme tail</a:t>
            </a:r>
            <a:r>
              <a:rPr lang="en-US" sz="1100">
                <a:latin typeface="Arial"/>
                <a:ea typeface="Arial"/>
                <a:cs typeface="Arial"/>
                <a:sym typeface="Arial"/>
              </a:rPr>
              <a:t>, which we’ll see next</a:t>
            </a:r>
            <a:endParaRPr sz="1100">
              <a:latin typeface="Arial"/>
              <a:ea typeface="Arial"/>
              <a:cs typeface="Arial"/>
              <a:sym typeface="Arial"/>
            </a:endParaRPr>
          </a:p>
        </p:txBody>
      </p:sp>
      <p:sp>
        <p:nvSpPr>
          <p:cNvPr id="218" name="Google Shape;218;g3af26abed01_0_1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f26abed01_0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1" name="Google Shape;231;g3af26abed01_0_1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This plot shows the </a:t>
            </a:r>
            <a:r>
              <a:rPr b="1" lang="en-US" sz="1100">
                <a:latin typeface="Arial"/>
                <a:ea typeface="Arial"/>
                <a:cs typeface="Arial"/>
                <a:sym typeface="Arial"/>
              </a:rPr>
              <a:t>last part of the test period</a:t>
            </a:r>
            <a:r>
              <a:rPr lang="en-US" sz="1100">
                <a:latin typeface="Arial"/>
                <a:ea typeface="Arial"/>
                <a:cs typeface="Arial"/>
                <a:sym typeface="Arial"/>
              </a:rPr>
              <a:t> for the LSTM.</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a:t>
            </a:r>
            <a:r>
              <a:rPr b="1" lang="en-US" sz="1100">
                <a:latin typeface="Arial"/>
                <a:ea typeface="Arial"/>
                <a:cs typeface="Arial"/>
                <a:sym typeface="Arial"/>
              </a:rPr>
              <a:t>blue line</a:t>
            </a:r>
            <a:r>
              <a:rPr lang="en-US" sz="1100">
                <a:latin typeface="Arial"/>
                <a:ea typeface="Arial"/>
                <a:cs typeface="Arial"/>
                <a:sym typeface="Arial"/>
              </a:rPr>
              <a:t> is the observed RS-mean rainfall, the </a:t>
            </a:r>
            <a:r>
              <a:rPr b="1" lang="en-US" sz="1100">
                <a:latin typeface="Arial"/>
                <a:ea typeface="Arial"/>
                <a:cs typeface="Arial"/>
                <a:sym typeface="Arial"/>
              </a:rPr>
              <a:t>orange line</a:t>
            </a:r>
            <a:r>
              <a:rPr lang="en-US" sz="1100">
                <a:latin typeface="Arial"/>
                <a:ea typeface="Arial"/>
                <a:cs typeface="Arial"/>
                <a:sym typeface="Arial"/>
              </a:rPr>
              <a:t> is the LSTM forecast.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LSTM does a good job capturing </a:t>
            </a:r>
            <a:r>
              <a:rPr b="1" lang="en-US" sz="1100">
                <a:latin typeface="Arial"/>
                <a:ea typeface="Arial"/>
                <a:cs typeface="Arial"/>
                <a:sym typeface="Arial"/>
              </a:rPr>
              <a:t>when</a:t>
            </a:r>
            <a:r>
              <a:rPr lang="en-US" sz="1100">
                <a:latin typeface="Arial"/>
                <a:ea typeface="Arial"/>
                <a:cs typeface="Arial"/>
                <a:sym typeface="Arial"/>
              </a:rPr>
              <a:t> wet periods happen and approximate magnitudes for typical events.</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But the highest peaks are consistently </a:t>
            </a:r>
            <a:r>
              <a:rPr b="1" lang="en-US" sz="1100">
                <a:latin typeface="Arial"/>
                <a:ea typeface="Arial"/>
                <a:cs typeface="Arial"/>
                <a:sym typeface="Arial"/>
              </a:rPr>
              <a:t>smoothed and underestimated</a:t>
            </a:r>
            <a:r>
              <a:rPr lang="en-US" sz="1100">
                <a:latin typeface="Arial"/>
                <a:ea typeface="Arial"/>
                <a:cs typeface="Arial"/>
                <a:sym typeface="Arial"/>
              </a:rPr>
              <a:t>, which is a key limitation when we think about extreme design values</a:t>
            </a:r>
            <a:endParaRPr/>
          </a:p>
        </p:txBody>
      </p:sp>
      <p:sp>
        <p:nvSpPr>
          <p:cNvPr id="232" name="Google Shape;232;g3af26abed01_0_1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f26abed01_0_1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4" name="Google Shape;244;g3af26abed01_0_18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scatter plot makes this bias even clearer.</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On the x-axis we have </a:t>
            </a:r>
            <a:r>
              <a:rPr b="1" lang="en-US" sz="1100">
                <a:latin typeface="Arial"/>
                <a:ea typeface="Arial"/>
                <a:cs typeface="Arial"/>
                <a:sym typeface="Arial"/>
              </a:rPr>
              <a:t>observed rainfall</a:t>
            </a:r>
            <a:r>
              <a:rPr lang="en-US" sz="1100">
                <a:latin typeface="Arial"/>
                <a:ea typeface="Arial"/>
                <a:cs typeface="Arial"/>
                <a:sym typeface="Arial"/>
              </a:rPr>
              <a:t> and on the y-axis the </a:t>
            </a:r>
            <a:r>
              <a:rPr b="1" lang="en-US" sz="1100">
                <a:latin typeface="Arial"/>
                <a:ea typeface="Arial"/>
                <a:cs typeface="Arial"/>
                <a:sym typeface="Arial"/>
              </a:rPr>
              <a:t>LSTM prediction</a:t>
            </a:r>
            <a:r>
              <a:rPr lang="en-US" sz="1100">
                <a:latin typeface="Arial"/>
                <a:ea typeface="Arial"/>
                <a:cs typeface="Arial"/>
                <a:sym typeface="Arial"/>
              </a:rPr>
              <a:t>, with a 1:1 reference line.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For low to moderate values, points are close to the diagonal.</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For higher values, points tend to fall </a:t>
            </a:r>
            <a:r>
              <a:rPr b="1" lang="en-US" sz="1100">
                <a:latin typeface="Arial"/>
                <a:ea typeface="Arial"/>
                <a:cs typeface="Arial"/>
                <a:sym typeface="Arial"/>
              </a:rPr>
              <a:t>below</a:t>
            </a:r>
            <a:r>
              <a:rPr lang="en-US" sz="1100">
                <a:latin typeface="Arial"/>
                <a:ea typeface="Arial"/>
                <a:cs typeface="Arial"/>
                <a:sym typeface="Arial"/>
              </a:rPr>
              <a:t> the line, indicating </a:t>
            </a:r>
            <a:r>
              <a:rPr b="1" lang="en-US" sz="1100">
                <a:latin typeface="Arial"/>
                <a:ea typeface="Arial"/>
                <a:cs typeface="Arial"/>
                <a:sym typeface="Arial"/>
              </a:rPr>
              <a:t>systematic underestimation</a:t>
            </a:r>
            <a:r>
              <a:rPr lang="en-US" sz="1100">
                <a:latin typeface="Arial"/>
                <a:ea typeface="Arial"/>
                <a:cs typeface="Arial"/>
                <a:sym typeface="Arial"/>
              </a:rPr>
              <a:t> of the largest events.</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This behaviour carries over into the IDF curves</a:t>
            </a:r>
            <a:endParaRPr sz="1100">
              <a:latin typeface="Arial"/>
              <a:ea typeface="Arial"/>
              <a:cs typeface="Arial"/>
              <a:sym typeface="Arial"/>
            </a:endParaRPr>
          </a:p>
        </p:txBody>
      </p:sp>
      <p:sp>
        <p:nvSpPr>
          <p:cNvPr id="245" name="Google Shape;245;g3af26abed01_0_18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af26abed01_0_2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7" name="Google Shape;257;g3af26abed01_0_2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Here I compare the </a:t>
            </a:r>
            <a:r>
              <a:rPr b="1" lang="en-US" sz="1100">
                <a:latin typeface="Arial"/>
                <a:ea typeface="Arial"/>
                <a:cs typeface="Arial"/>
                <a:sym typeface="Arial"/>
              </a:rPr>
              <a:t>observed distribution of annual maxima</a:t>
            </a:r>
            <a:r>
              <a:rPr lang="en-US" sz="1100">
                <a:latin typeface="Arial"/>
                <a:ea typeface="Arial"/>
                <a:cs typeface="Arial"/>
                <a:sym typeface="Arial"/>
              </a:rPr>
              <a:t> with the </a:t>
            </a:r>
            <a:r>
              <a:rPr b="1" lang="en-US" sz="1100">
                <a:latin typeface="Arial"/>
                <a:ea typeface="Arial"/>
                <a:cs typeface="Arial"/>
                <a:sym typeface="Arial"/>
              </a:rPr>
              <a:t>distribution of maxima generated by the VAE</a:t>
            </a:r>
            <a:r>
              <a:rPr lang="en-US" sz="1100">
                <a:latin typeface="Arial"/>
                <a:ea typeface="Arial"/>
                <a:cs typeface="Arial"/>
                <a:sym typeface="Arial"/>
              </a:rPr>
              <a:t>.</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VAE captures the </a:t>
            </a:r>
            <a:r>
              <a:rPr b="1" lang="en-US" sz="1100">
                <a:latin typeface="Arial"/>
                <a:ea typeface="Arial"/>
                <a:cs typeface="Arial"/>
                <a:sym typeface="Arial"/>
              </a:rPr>
              <a:t>overall shape</a:t>
            </a:r>
            <a:r>
              <a:rPr lang="en-US" sz="1100">
                <a:latin typeface="Arial"/>
                <a:ea typeface="Arial"/>
                <a:cs typeface="Arial"/>
                <a:sym typeface="Arial"/>
              </a:rPr>
              <a:t> and typical range of annual maxima, which means the latent space is meaningful.</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But again, the </a:t>
            </a:r>
            <a:r>
              <a:rPr b="1" lang="en-US" sz="1100">
                <a:latin typeface="Arial"/>
                <a:ea typeface="Arial"/>
                <a:cs typeface="Arial"/>
                <a:sym typeface="Arial"/>
              </a:rPr>
              <a:t>tail of the generated distribution is lighter</a:t>
            </a:r>
            <a:r>
              <a:rPr lang="en-US" sz="1100">
                <a:latin typeface="Arial"/>
                <a:ea typeface="Arial"/>
                <a:cs typeface="Arial"/>
                <a:sym typeface="Arial"/>
              </a:rPr>
              <a:t> than the observed one – the most extreme values are underrepresented.</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So both models – LSTM and VAE – are useful, but they still </a:t>
            </a:r>
            <a:r>
              <a:rPr b="1" lang="en-US" sz="1100">
                <a:latin typeface="Arial"/>
                <a:ea typeface="Arial"/>
                <a:cs typeface="Arial"/>
                <a:sym typeface="Arial"/>
              </a:rPr>
              <a:t>miss the very upper tail</a:t>
            </a:r>
            <a:r>
              <a:rPr lang="en-US" sz="1100">
                <a:latin typeface="Arial"/>
                <a:ea typeface="Arial"/>
                <a:cs typeface="Arial"/>
                <a:sym typeface="Arial"/>
              </a:rPr>
              <a:t>, which matters most for IDF</a:t>
            </a:r>
            <a:endParaRPr sz="1100">
              <a:latin typeface="Arial"/>
              <a:ea typeface="Arial"/>
              <a:cs typeface="Arial"/>
              <a:sym typeface="Arial"/>
            </a:endParaRPr>
          </a:p>
        </p:txBody>
      </p:sp>
      <p:sp>
        <p:nvSpPr>
          <p:cNvPr id="258" name="Google Shape;258;g3af26abed01_0_2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af26abed01_0_2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0" name="Google Shape;270;g3af26abed01_0_2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This is the core result from the IDF perspective.</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The plot shows </a:t>
            </a:r>
            <a:r>
              <a:rPr b="1" lang="en-US" sz="1100">
                <a:latin typeface="Arial"/>
                <a:ea typeface="Arial"/>
                <a:cs typeface="Arial"/>
                <a:sym typeface="Arial"/>
              </a:rPr>
              <a:t>observed IDF curves</a:t>
            </a:r>
            <a:r>
              <a:rPr lang="en-US" sz="1100">
                <a:latin typeface="Arial"/>
                <a:ea typeface="Arial"/>
                <a:cs typeface="Arial"/>
                <a:sym typeface="Arial"/>
              </a:rPr>
              <a:t> computed from CHIRPS for different durations, and </a:t>
            </a:r>
            <a:r>
              <a:rPr b="1" lang="en-US" sz="1100">
                <a:latin typeface="Arial"/>
                <a:ea typeface="Arial"/>
                <a:cs typeface="Arial"/>
                <a:sym typeface="Arial"/>
              </a:rPr>
              <a:t>ML-based IDF curves</a:t>
            </a:r>
            <a:r>
              <a:rPr lang="en-US" sz="1100">
                <a:latin typeface="Arial"/>
                <a:ea typeface="Arial"/>
                <a:cs typeface="Arial"/>
                <a:sym typeface="Arial"/>
              </a:rPr>
              <a:t> derived from the LSTM and VAE outputs.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I also mark the </a:t>
            </a:r>
            <a:r>
              <a:rPr b="1" lang="en-US" sz="1100">
                <a:latin typeface="Arial"/>
                <a:ea typeface="Arial"/>
                <a:cs typeface="Arial"/>
                <a:sym typeface="Arial"/>
              </a:rPr>
              <a:t>May 2024 event</a:t>
            </a:r>
            <a:r>
              <a:rPr lang="en-US" sz="1100">
                <a:latin typeface="Arial"/>
                <a:ea typeface="Arial"/>
                <a:cs typeface="Arial"/>
                <a:sym typeface="Arial"/>
              </a:rPr>
              <a:t> on the diagram.</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We see that ML-based curves are </a:t>
            </a:r>
            <a:r>
              <a:rPr b="1" lang="en-US" sz="1100">
                <a:latin typeface="Arial"/>
                <a:ea typeface="Arial"/>
                <a:cs typeface="Arial"/>
                <a:sym typeface="Arial"/>
              </a:rPr>
              <a:t>systematically lower</a:t>
            </a:r>
            <a:r>
              <a:rPr lang="en-US" sz="1100">
                <a:latin typeface="Arial"/>
                <a:ea typeface="Arial"/>
                <a:cs typeface="Arial"/>
                <a:sym typeface="Arial"/>
              </a:rPr>
              <a:t> than the observed ones, especially at longer return periods, and the 2024 flood still lies </a:t>
            </a:r>
            <a:r>
              <a:rPr b="1" lang="en-US" sz="1100">
                <a:latin typeface="Arial"/>
                <a:ea typeface="Arial"/>
                <a:cs typeface="Arial"/>
                <a:sym typeface="Arial"/>
              </a:rPr>
              <a:t>above both</a:t>
            </a:r>
            <a:r>
              <a:rPr lang="en-US" sz="1100">
                <a:latin typeface="Arial"/>
                <a:ea typeface="Arial"/>
                <a:cs typeface="Arial"/>
                <a:sym typeface="Arial"/>
              </a:rPr>
              <a:t>.</a:t>
            </a:r>
            <a:endParaRPr sz="1100">
              <a:latin typeface="Arial"/>
              <a:ea typeface="Arial"/>
              <a:cs typeface="Arial"/>
              <a:sym typeface="Arial"/>
            </a:endParaRPr>
          </a:p>
          <a:p>
            <a:pPr indent="0" lvl="0" marL="0" rtl="0" algn="l">
              <a:lnSpc>
                <a:spcPct val="100000"/>
              </a:lnSpc>
              <a:spcBef>
                <a:spcPts val="0"/>
              </a:spcBef>
              <a:spcAft>
                <a:spcPts val="0"/>
              </a:spcAft>
              <a:buSzPts val="1400"/>
              <a:buNone/>
            </a:pPr>
            <a:r>
              <a:rPr lang="en-US" sz="1100">
                <a:latin typeface="Arial"/>
                <a:ea typeface="Arial"/>
                <a:cs typeface="Arial"/>
                <a:sym typeface="Arial"/>
              </a:rPr>
              <a:t>So, even after applying ML, the recalibrated curves </a:t>
            </a:r>
            <a:r>
              <a:rPr b="1" lang="en-US" sz="1100">
                <a:latin typeface="Arial"/>
                <a:ea typeface="Arial"/>
                <a:cs typeface="Arial"/>
                <a:sym typeface="Arial"/>
              </a:rPr>
              <a:t>do not fully capture</a:t>
            </a:r>
            <a:r>
              <a:rPr lang="en-US" sz="1100">
                <a:latin typeface="Arial"/>
                <a:ea typeface="Arial"/>
                <a:cs typeface="Arial"/>
                <a:sym typeface="Arial"/>
              </a:rPr>
              <a:t> recent extremes like this flood.</a:t>
            </a:r>
            <a:endParaRPr sz="1100">
              <a:latin typeface="Arial"/>
              <a:ea typeface="Arial"/>
              <a:cs typeface="Arial"/>
              <a:sym typeface="Arial"/>
            </a:endParaRPr>
          </a:p>
        </p:txBody>
      </p:sp>
      <p:sp>
        <p:nvSpPr>
          <p:cNvPr id="271" name="Google Shape;271;g3af26abed01_0_2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f26abed01_0_2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3" name="Google Shape;283;g3af26abed01_0_2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So, can ML help us understand and recalibrate rainfall extremes?</a:t>
            </a:r>
            <a:endParaRPr sz="11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From my results, I would say: </a:t>
            </a:r>
            <a:r>
              <a:rPr b="1" lang="en-US" sz="1100">
                <a:latin typeface="Arial"/>
                <a:ea typeface="Arial"/>
                <a:cs typeface="Arial"/>
                <a:sym typeface="Arial"/>
              </a:rPr>
              <a:t>for understanding, yes, partially</a:t>
            </a:r>
            <a:r>
              <a:rPr lang="en-US" sz="1100">
                <a:latin typeface="Arial"/>
                <a:ea typeface="Arial"/>
                <a:cs typeface="Arial"/>
                <a:sym typeface="Arial"/>
              </a:rPr>
              <a:t>.</a:t>
            </a:r>
            <a:endParaRPr sz="11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The LSTM and VAE help reveal how much of the variability we can learn and clearly show where we </a:t>
            </a:r>
            <a:r>
              <a:rPr b="1" lang="en-US" sz="1100">
                <a:latin typeface="Arial"/>
                <a:ea typeface="Arial"/>
                <a:cs typeface="Arial"/>
                <a:sym typeface="Arial"/>
              </a:rPr>
              <a:t>underestimate extremes</a:t>
            </a:r>
            <a:r>
              <a:rPr lang="en-US" sz="1100">
                <a:latin typeface="Arial"/>
                <a:ea typeface="Arial"/>
                <a:cs typeface="Arial"/>
                <a:sym typeface="Arial"/>
              </a:rPr>
              <a:t>.</a:t>
            </a:r>
            <a:endParaRPr sz="11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But for </a:t>
            </a:r>
            <a:r>
              <a:rPr b="1" lang="en-US" sz="1100">
                <a:latin typeface="Arial"/>
                <a:ea typeface="Arial"/>
                <a:cs typeface="Arial"/>
                <a:sym typeface="Arial"/>
              </a:rPr>
              <a:t>recalibrating IDF curves in a robust way</a:t>
            </a:r>
            <a:r>
              <a:rPr lang="en-US" sz="1100">
                <a:latin typeface="Arial"/>
                <a:ea typeface="Arial"/>
                <a:cs typeface="Arial"/>
                <a:sym typeface="Arial"/>
              </a:rPr>
              <a:t>, in this prototype the answer is </a:t>
            </a:r>
            <a:r>
              <a:rPr b="1" lang="en-US" sz="1100">
                <a:latin typeface="Arial"/>
                <a:ea typeface="Arial"/>
                <a:cs typeface="Arial"/>
                <a:sym typeface="Arial"/>
              </a:rPr>
              <a:t>not yet</a:t>
            </a:r>
            <a:r>
              <a:rPr lang="en-US" sz="1100">
                <a:latin typeface="Arial"/>
                <a:ea typeface="Arial"/>
                <a:cs typeface="Arial"/>
                <a:sym typeface="Arial"/>
              </a:rPr>
              <a:t>.</a:t>
            </a:r>
            <a:endParaRPr sz="11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1100">
                <a:latin typeface="Arial"/>
                <a:ea typeface="Arial"/>
                <a:cs typeface="Arial"/>
                <a:sym typeface="Arial"/>
              </a:rPr>
              <a:t>With 25 years of CHIRPS and relatively simple architectures, ML-based curves still </a:t>
            </a:r>
            <a:r>
              <a:rPr b="1" lang="en-US" sz="1100">
                <a:latin typeface="Arial"/>
                <a:ea typeface="Arial"/>
                <a:cs typeface="Arial"/>
                <a:sym typeface="Arial"/>
              </a:rPr>
              <a:t>underestimate the upper tail</a:t>
            </a:r>
            <a:r>
              <a:rPr lang="en-US" sz="1100">
                <a:latin typeface="Arial"/>
                <a:ea typeface="Arial"/>
                <a:cs typeface="Arial"/>
                <a:sym typeface="Arial"/>
              </a:rPr>
              <a:t>, and major events like May 2024 remain outside</a:t>
            </a:r>
            <a:endParaRPr sz="1100">
              <a:latin typeface="Arial"/>
              <a:ea typeface="Arial"/>
              <a:cs typeface="Arial"/>
              <a:sym typeface="Arial"/>
            </a:endParaRPr>
          </a:p>
          <a:p>
            <a:pPr indent="0" lvl="0" marL="0" rtl="0" algn="l">
              <a:lnSpc>
                <a:spcPct val="115000"/>
              </a:lnSpc>
              <a:spcBef>
                <a:spcPts val="0"/>
              </a:spcBef>
              <a:spcAft>
                <a:spcPts val="0"/>
              </a:spcAft>
              <a:buNone/>
            </a:pPr>
            <a:r>
              <a:t/>
            </a:r>
            <a:endParaRPr sz="1100">
              <a:latin typeface="Arial"/>
              <a:ea typeface="Arial"/>
              <a:cs typeface="Arial"/>
              <a:sym typeface="Arial"/>
            </a:endParaRPr>
          </a:p>
        </p:txBody>
      </p:sp>
      <p:sp>
        <p:nvSpPr>
          <p:cNvPr id="284" name="Google Shape;284;g3af26abed01_0_2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f55fae002_0_1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f55fae002_0_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To move closer to reliable ML-based IDF recalibration, I see three main directions.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First, </a:t>
            </a:r>
            <a:r>
              <a:rPr b="1" lang="en-US" sz="1100">
                <a:latin typeface="Arial"/>
                <a:ea typeface="Arial"/>
                <a:cs typeface="Arial"/>
                <a:sym typeface="Arial"/>
              </a:rPr>
              <a:t>richer data</a:t>
            </a:r>
            <a:r>
              <a:rPr lang="en-US" sz="1100">
                <a:latin typeface="Arial"/>
                <a:ea typeface="Arial"/>
                <a:cs typeface="Arial"/>
                <a:sym typeface="Arial"/>
              </a:rPr>
              <a:t>: adding atmospheric and climate predictors from reanalyses, combining CHIRPS with gauges and radar, and possibly extending the record with other satellite products.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Second, </a:t>
            </a:r>
            <a:r>
              <a:rPr b="1" lang="en-US" sz="1100">
                <a:latin typeface="Arial"/>
                <a:ea typeface="Arial"/>
                <a:cs typeface="Arial"/>
                <a:sym typeface="Arial"/>
              </a:rPr>
              <a:t>models and loss functions focused on extremes</a:t>
            </a:r>
            <a:r>
              <a:rPr lang="en-US" sz="1100">
                <a:latin typeface="Arial"/>
                <a:ea typeface="Arial"/>
                <a:cs typeface="Arial"/>
                <a:sym typeface="Arial"/>
              </a:rPr>
              <a:t>: tail-aware losses, peaks-over-threshold combined with ML, and architectures like </a:t>
            </a:r>
            <a:r>
              <a:rPr b="1" lang="en-US" sz="1100">
                <a:latin typeface="Arial"/>
                <a:ea typeface="Arial"/>
                <a:cs typeface="Arial"/>
                <a:sym typeface="Arial"/>
              </a:rPr>
              <a:t>ConvLSTM or Transformers</a:t>
            </a:r>
            <a:r>
              <a:rPr lang="en-US" sz="1100">
                <a:latin typeface="Arial"/>
                <a:ea typeface="Arial"/>
                <a:cs typeface="Arial"/>
                <a:sym typeface="Arial"/>
              </a:rPr>
              <a:t> on spatial grids.</a:t>
            </a:r>
            <a:endParaRPr sz="1100">
              <a:latin typeface="Arial"/>
              <a:ea typeface="Arial"/>
              <a:cs typeface="Arial"/>
              <a:sym typeface="Arial"/>
            </a:endParaRPr>
          </a:p>
          <a:p>
            <a:pPr indent="0" lvl="0" marL="0" rtl="0" algn="l">
              <a:spcBef>
                <a:spcPts val="0"/>
              </a:spcBef>
              <a:spcAft>
                <a:spcPts val="0"/>
              </a:spcAft>
              <a:buClr>
                <a:schemeClr val="dk1"/>
              </a:buClr>
              <a:buSzPts val="1100"/>
              <a:buFont typeface="Arial"/>
              <a:buNone/>
            </a:pPr>
            <a:r>
              <a:rPr lang="en-US" sz="1100">
                <a:latin typeface="Arial"/>
                <a:ea typeface="Arial"/>
                <a:cs typeface="Arial"/>
                <a:sym typeface="Arial"/>
              </a:rPr>
              <a:t>Third, </a:t>
            </a:r>
            <a:r>
              <a:rPr b="1" lang="en-US" sz="1100">
                <a:latin typeface="Arial"/>
                <a:ea typeface="Arial"/>
                <a:cs typeface="Arial"/>
                <a:sym typeface="Arial"/>
              </a:rPr>
              <a:t>evaluation aligned with engineering use</a:t>
            </a:r>
            <a:r>
              <a:rPr lang="en-US" sz="1100">
                <a:latin typeface="Arial"/>
                <a:ea typeface="Arial"/>
                <a:cs typeface="Arial"/>
                <a:sym typeface="Arial"/>
              </a:rPr>
              <a:t>: using return levels, quantiles and tail metrics, and stress-testing models specifically on events like the 2024 floods.</a:t>
            </a:r>
            <a:endParaRPr sz="1100">
              <a:latin typeface="Arial"/>
              <a:ea typeface="Arial"/>
              <a:cs typeface="Arial"/>
              <a:sym typeface="Arial"/>
            </a:endParaRPr>
          </a:p>
          <a:p>
            <a:pPr indent="0" lvl="0" marL="0" rtl="0" algn="l">
              <a:spcBef>
                <a:spcPts val="0"/>
              </a:spcBef>
              <a:spcAft>
                <a:spcPts val="0"/>
              </a:spcAft>
              <a:buClr>
                <a:schemeClr val="dk1"/>
              </a:buClr>
              <a:buSzPts val="1400"/>
              <a:buFont typeface="Arial"/>
              <a:buNone/>
            </a:pPr>
            <a:r>
              <a:rPr lang="en-US" sz="1100">
                <a:latin typeface="Arial"/>
                <a:ea typeface="Arial"/>
                <a:cs typeface="Arial"/>
                <a:sym typeface="Arial"/>
              </a:rPr>
              <a:t>With these components, ML can evolve from an exploratory tool to a more reliable support for IDF recalibration</a:t>
            </a:r>
            <a:endParaRPr sz="1100">
              <a:latin typeface="Arial"/>
              <a:ea typeface="Arial"/>
              <a:cs typeface="Arial"/>
              <a:sym typeface="Arial"/>
            </a:endParaRPr>
          </a:p>
          <a:p>
            <a:pPr indent="0" lvl="0" marL="0" rtl="0" algn="l">
              <a:spcBef>
                <a:spcPts val="360"/>
              </a:spcBef>
              <a:spcAft>
                <a:spcPts val="0"/>
              </a:spcAft>
              <a:buNone/>
            </a:pPr>
            <a:r>
              <a:t/>
            </a:r>
            <a:endParaRPr/>
          </a:p>
        </p:txBody>
      </p:sp>
      <p:sp>
        <p:nvSpPr>
          <p:cNvPr id="297" name="Google Shape;297;g3af55fae002_0_109: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f55fae002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af55fae002_0_1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rPr lang="en-US"/>
              <a:t>thank you for you attention.</a:t>
            </a:r>
            <a:endParaRPr/>
          </a:p>
        </p:txBody>
      </p:sp>
      <p:sp>
        <p:nvSpPr>
          <p:cNvPr id="303" name="Google Shape;303;g3af55fae002_0_114:notes"/>
          <p:cNvSpPr txBox="1"/>
          <p:nvPr>
            <p:ph idx="12" type="sldNum"/>
          </p:nvPr>
        </p:nvSpPr>
        <p:spPr>
          <a:xfrm>
            <a:off x="3884613" y="8685213"/>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
  <p:cSld name="3_Title Slide">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16" name="Shape 16"/>
        <p:cNvGrpSpPr/>
        <p:nvPr/>
      </p:nvGrpSpPr>
      <p:grpSpPr>
        <a:xfrm>
          <a:off x="0" y="0"/>
          <a:ext cx="0" cy="0"/>
          <a:chOff x="0" y="0"/>
          <a:chExt cx="0" cy="0"/>
        </a:xfrm>
      </p:grpSpPr>
      <p:pic>
        <p:nvPicPr>
          <p:cNvPr descr="16x9_BG-02.jpg" id="17" name="Google Shape;17;p12"/>
          <p:cNvPicPr preferRelativeResize="0"/>
          <p:nvPr/>
        </p:nvPicPr>
        <p:blipFill rotWithShape="1">
          <a:blip r:embed="rId2">
            <a:alphaModFix/>
          </a:blip>
          <a:srcRect b="0" l="0" r="0" t="0"/>
          <a:stretch/>
        </p:blipFill>
        <p:spPr>
          <a:xfrm>
            <a:off x="0" y="0"/>
            <a:ext cx="9144000" cy="4781550"/>
          </a:xfrm>
          <a:prstGeom prst="rect">
            <a:avLst/>
          </a:prstGeom>
          <a:noFill/>
          <a:ln>
            <a:noFill/>
          </a:ln>
        </p:spPr>
      </p:pic>
      <p:sp>
        <p:nvSpPr>
          <p:cNvPr id="18" name="Google Shape;18;p12"/>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9" name="Google Shape;19;p12"/>
          <p:cNvPicPr preferRelativeResize="0"/>
          <p:nvPr/>
        </p:nvPicPr>
        <p:blipFill rotWithShape="1">
          <a:blip r:embed="rId3">
            <a:alphaModFix/>
          </a:blip>
          <a:srcRect b="0" l="0" r="0" t="0"/>
          <a:stretch/>
        </p:blipFill>
        <p:spPr>
          <a:xfrm>
            <a:off x="7162800" y="4803775"/>
            <a:ext cx="1827213" cy="222250"/>
          </a:xfrm>
          <a:prstGeom prst="rect">
            <a:avLst/>
          </a:prstGeom>
          <a:noFill/>
          <a:ln>
            <a:noFill/>
          </a:ln>
        </p:spPr>
      </p:pic>
      <p:sp>
        <p:nvSpPr>
          <p:cNvPr id="20" name="Google Shape;20;p12"/>
          <p:cNvSpPr txBox="1"/>
          <p:nvPr/>
        </p:nvSpPr>
        <p:spPr>
          <a:xfrm>
            <a:off x="0" y="4695825"/>
            <a:ext cx="9144000" cy="390525"/>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Clr>
                <a:srgbClr val="000000"/>
              </a:buClr>
              <a:buSzPts val="1200"/>
              <a:buFont typeface="Arial"/>
              <a:buNone/>
            </a:pPr>
            <a:r>
              <a:rPr b="0" i="1" lang="en-US" sz="1200" u="none" cap="none" strike="noStrike">
                <a:solidFill>
                  <a:schemeClr val="lt1"/>
                </a:solidFill>
                <a:latin typeface="Calibri"/>
                <a:ea typeface="Calibri"/>
                <a:cs typeface="Calibri"/>
                <a:sym typeface="Calibri"/>
              </a:rPr>
              <a:t>TRANSCENDING DISCIPLINES, TRANSFORMING LIVES</a:t>
            </a:r>
            <a:endParaRPr b="0" i="0" sz="1400" u="none" cap="none" strike="noStrike">
              <a:solidFill>
                <a:srgbClr val="000000"/>
              </a:solidFill>
              <a:latin typeface="Arial"/>
              <a:ea typeface="Arial"/>
              <a:cs typeface="Arial"/>
              <a:sym typeface="Arial"/>
            </a:endParaRPr>
          </a:p>
        </p:txBody>
      </p:sp>
      <p:sp>
        <p:nvSpPr>
          <p:cNvPr id="21" name="Google Shape;21;p12"/>
          <p:cNvSpPr txBox="1"/>
          <p:nvPr>
            <p:ph type="title"/>
          </p:nvPr>
        </p:nvSpPr>
        <p:spPr>
          <a:xfrm>
            <a:off x="457200" y="1643542"/>
            <a:ext cx="8229600" cy="584776"/>
          </a:xfrm>
          <a:prstGeom prst="rect">
            <a:avLst/>
          </a:prstGeom>
          <a:noFill/>
          <a:ln>
            <a:noFill/>
          </a:ln>
        </p:spPr>
        <p:txBody>
          <a:bodyPr anchorCtr="0" anchor="ctr" bIns="45700" lIns="91425" spcFirstLastPara="1" rIns="91425" wrap="square" tIns="45700">
            <a:spAutoFit/>
          </a:bodyPr>
          <a:lstStyle>
            <a:lvl1pPr lvl="0" algn="ctr">
              <a:lnSpc>
                <a:spcPct val="100000"/>
              </a:lnSpc>
              <a:spcBef>
                <a:spcPts val="0"/>
              </a:spcBef>
              <a:spcAft>
                <a:spcPts val="0"/>
              </a:spcAft>
              <a:buSzPts val="1400"/>
              <a:buNone/>
              <a:defRPr i="1" sz="3200">
                <a:solidFill>
                  <a:srgbClr val="FFFFFF"/>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2" name="Google Shape;22;p12"/>
          <p:cNvSpPr txBox="1"/>
          <p:nvPr>
            <p:ph idx="1" type="body"/>
          </p:nvPr>
        </p:nvSpPr>
        <p:spPr>
          <a:xfrm>
            <a:off x="1485900" y="2114550"/>
            <a:ext cx="6172200"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360"/>
              </a:spcBef>
              <a:spcAft>
                <a:spcPts val="0"/>
              </a:spcAft>
              <a:buClr>
                <a:srgbClr val="FFFFFF"/>
              </a:buClr>
              <a:buSzPts val="1800"/>
              <a:buNone/>
              <a:defRPr i="1" sz="1800">
                <a:solidFill>
                  <a:srgbClr val="FFFFFF"/>
                </a:solidFill>
              </a:defRPr>
            </a:lvl1pPr>
            <a:lvl2pPr indent="-228600" lvl="1" marL="914400" algn="ctr">
              <a:lnSpc>
                <a:spcPct val="100000"/>
              </a:lnSpc>
              <a:spcBef>
                <a:spcPts val="360"/>
              </a:spcBef>
              <a:spcAft>
                <a:spcPts val="0"/>
              </a:spcAft>
              <a:buClr>
                <a:srgbClr val="FFFFFF"/>
              </a:buClr>
              <a:buSzPts val="1800"/>
              <a:buNone/>
              <a:defRPr i="1" sz="1800">
                <a:solidFill>
                  <a:srgbClr val="FFFFFF"/>
                </a:solidFill>
              </a:defRPr>
            </a:lvl2pPr>
            <a:lvl3pPr indent="-228600" lvl="2" marL="1371600" algn="ctr">
              <a:lnSpc>
                <a:spcPct val="100000"/>
              </a:lnSpc>
              <a:spcBef>
                <a:spcPts val="360"/>
              </a:spcBef>
              <a:spcAft>
                <a:spcPts val="0"/>
              </a:spcAft>
              <a:buClr>
                <a:srgbClr val="FFFFFF"/>
              </a:buClr>
              <a:buSzPts val="1800"/>
              <a:buNone/>
              <a:defRPr i="1" sz="1800">
                <a:solidFill>
                  <a:srgbClr val="FFFFFF"/>
                </a:solidFill>
              </a:defRPr>
            </a:lvl3pPr>
            <a:lvl4pPr indent="-228600" lvl="3" marL="1828800" algn="ctr">
              <a:lnSpc>
                <a:spcPct val="100000"/>
              </a:lnSpc>
              <a:spcBef>
                <a:spcPts val="360"/>
              </a:spcBef>
              <a:spcAft>
                <a:spcPts val="0"/>
              </a:spcAft>
              <a:buClr>
                <a:srgbClr val="FFFFFF"/>
              </a:buClr>
              <a:buSzPts val="1800"/>
              <a:buNone/>
              <a:defRPr i="1" sz="1800">
                <a:solidFill>
                  <a:srgbClr val="FFFFFF"/>
                </a:solidFill>
              </a:defRPr>
            </a:lvl4pPr>
            <a:lvl5pPr indent="-228600" lvl="4" marL="2286000" algn="ctr">
              <a:lnSpc>
                <a:spcPct val="100000"/>
              </a:lnSpc>
              <a:spcBef>
                <a:spcPts val="360"/>
              </a:spcBef>
              <a:spcAft>
                <a:spcPts val="0"/>
              </a:spcAft>
              <a:buClr>
                <a:srgbClr val="FFFFFF"/>
              </a:buClr>
              <a:buSzPts val="1800"/>
              <a:buNone/>
              <a:defRPr i="1" sz="180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12"/>
          <p:cNvSpPr txBox="1"/>
          <p:nvPr>
            <p:ph idx="2" type="body"/>
          </p:nvPr>
        </p:nvSpPr>
        <p:spPr>
          <a:xfrm>
            <a:off x="2743200" y="2669355"/>
            <a:ext cx="3657600" cy="369332"/>
          </a:xfrm>
          <a:prstGeom prst="rect">
            <a:avLst/>
          </a:prstGeom>
          <a:noFill/>
          <a:ln>
            <a:noFill/>
          </a:ln>
        </p:spPr>
        <p:txBody>
          <a:bodyPr anchorCtr="0" anchor="t" bIns="45700" lIns="91425" spcFirstLastPara="1" rIns="91425" wrap="square" tIns="45700">
            <a:spAutoFit/>
          </a:bodyPr>
          <a:lstStyle>
            <a:lvl1pPr indent="-228600" lvl="0" marL="457200" algn="ctr">
              <a:lnSpc>
                <a:spcPct val="100000"/>
              </a:lnSpc>
              <a:spcBef>
                <a:spcPts val="360"/>
              </a:spcBef>
              <a:spcAft>
                <a:spcPts val="0"/>
              </a:spcAft>
              <a:buClr>
                <a:srgbClr val="FFFFFF"/>
              </a:buClr>
              <a:buSzPts val="1800"/>
              <a:buNone/>
              <a:defRPr i="1" sz="1800">
                <a:solidFill>
                  <a:srgbClr val="FFFFFF"/>
                </a:solidFill>
              </a:defRPr>
            </a:lvl1pPr>
            <a:lvl2pPr indent="-228600" lvl="1" marL="914400" algn="ctr">
              <a:lnSpc>
                <a:spcPct val="100000"/>
              </a:lnSpc>
              <a:spcBef>
                <a:spcPts val="360"/>
              </a:spcBef>
              <a:spcAft>
                <a:spcPts val="0"/>
              </a:spcAft>
              <a:buClr>
                <a:srgbClr val="FFFFFF"/>
              </a:buClr>
              <a:buSzPts val="1800"/>
              <a:buNone/>
              <a:defRPr i="1" sz="1800">
                <a:solidFill>
                  <a:srgbClr val="FFFFFF"/>
                </a:solidFill>
              </a:defRPr>
            </a:lvl2pPr>
            <a:lvl3pPr indent="-228600" lvl="2" marL="1371600" algn="ctr">
              <a:lnSpc>
                <a:spcPct val="100000"/>
              </a:lnSpc>
              <a:spcBef>
                <a:spcPts val="360"/>
              </a:spcBef>
              <a:spcAft>
                <a:spcPts val="0"/>
              </a:spcAft>
              <a:buClr>
                <a:srgbClr val="FFFFFF"/>
              </a:buClr>
              <a:buSzPts val="1800"/>
              <a:buNone/>
              <a:defRPr i="1" sz="1800">
                <a:solidFill>
                  <a:srgbClr val="FFFFFF"/>
                </a:solidFill>
              </a:defRPr>
            </a:lvl3pPr>
            <a:lvl4pPr indent="-228600" lvl="3" marL="1828800" algn="ctr">
              <a:lnSpc>
                <a:spcPct val="100000"/>
              </a:lnSpc>
              <a:spcBef>
                <a:spcPts val="360"/>
              </a:spcBef>
              <a:spcAft>
                <a:spcPts val="0"/>
              </a:spcAft>
              <a:buClr>
                <a:srgbClr val="FFFFFF"/>
              </a:buClr>
              <a:buSzPts val="1800"/>
              <a:buNone/>
              <a:defRPr i="1" sz="1800">
                <a:solidFill>
                  <a:srgbClr val="FFFFFF"/>
                </a:solidFill>
              </a:defRPr>
            </a:lvl4pPr>
            <a:lvl5pPr indent="-228600" lvl="4" marL="2286000" algn="ctr">
              <a:lnSpc>
                <a:spcPct val="100000"/>
              </a:lnSpc>
              <a:spcBef>
                <a:spcPts val="360"/>
              </a:spcBef>
              <a:spcAft>
                <a:spcPts val="0"/>
              </a:spcAft>
              <a:buClr>
                <a:srgbClr val="FFFFFF"/>
              </a:buClr>
              <a:buSzPts val="1800"/>
              <a:buNone/>
              <a:defRPr i="1" sz="1800">
                <a:solidFill>
                  <a:srgbClr val="FFFFFF"/>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cSld name="2_Title Slide">
    <p:spTree>
      <p:nvGrpSpPr>
        <p:cNvPr id="24" name="Shape 24"/>
        <p:cNvGrpSpPr/>
        <p:nvPr/>
      </p:nvGrpSpPr>
      <p:grpSpPr>
        <a:xfrm>
          <a:off x="0" y="0"/>
          <a:ext cx="0" cy="0"/>
          <a:chOff x="0" y="0"/>
          <a:chExt cx="0" cy="0"/>
        </a:xfrm>
      </p:grpSpPr>
      <p:pic>
        <p:nvPicPr>
          <p:cNvPr descr="16x9_BG-02.jpg" id="25" name="Google Shape;25;p13"/>
          <p:cNvPicPr preferRelativeResize="0"/>
          <p:nvPr/>
        </p:nvPicPr>
        <p:blipFill rotWithShape="1">
          <a:blip r:embed="rId2">
            <a:alphaModFix/>
          </a:blip>
          <a:srcRect b="0" l="0" r="0" t="0"/>
          <a:stretch/>
        </p:blipFill>
        <p:spPr>
          <a:xfrm>
            <a:off x="0" y="0"/>
            <a:ext cx="9144000" cy="4781550"/>
          </a:xfrm>
          <a:prstGeom prst="rect">
            <a:avLst/>
          </a:prstGeom>
          <a:noFill/>
          <a:ln>
            <a:noFill/>
          </a:ln>
        </p:spPr>
      </p:pic>
      <p:sp>
        <p:nvSpPr>
          <p:cNvPr id="26" name="Google Shape;26;p13"/>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7" name="Google Shape;27;p13"/>
          <p:cNvPicPr preferRelativeResize="0"/>
          <p:nvPr/>
        </p:nvPicPr>
        <p:blipFill rotWithShape="1">
          <a:blip r:embed="rId3">
            <a:alphaModFix/>
          </a:blip>
          <a:srcRect b="0" l="0" r="0" t="0"/>
          <a:stretch/>
        </p:blipFill>
        <p:spPr>
          <a:xfrm>
            <a:off x="7162800" y="4803775"/>
            <a:ext cx="1827213" cy="222250"/>
          </a:xfrm>
          <a:prstGeom prst="rect">
            <a:avLst/>
          </a:prstGeom>
          <a:noFill/>
          <a:ln>
            <a:noFill/>
          </a:ln>
        </p:spPr>
      </p:pic>
      <p:sp>
        <p:nvSpPr>
          <p:cNvPr id="28" name="Google Shape;28;p13"/>
          <p:cNvSpPr txBox="1"/>
          <p:nvPr/>
        </p:nvSpPr>
        <p:spPr>
          <a:xfrm>
            <a:off x="0" y="1638300"/>
            <a:ext cx="9144000" cy="14160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1" lang="en-US" sz="3200" u="none" cap="none" strike="noStrike">
                <a:solidFill>
                  <a:schemeClr val="lt1"/>
                </a:solidFill>
                <a:latin typeface="Calibri"/>
                <a:ea typeface="Calibri"/>
                <a:cs typeface="Calibri"/>
                <a:sym typeface="Calibri"/>
              </a:rPr>
              <a:t>Presentation Title Presentation Title</a:t>
            </a:r>
            <a:endParaRPr b="0" i="1"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Calibri"/>
                <a:ea typeface="Calibri"/>
                <a:cs typeface="Calibri"/>
                <a:sym typeface="Calibri"/>
              </a:rPr>
              <a:t>Presentation Subtitle Presentation Subtitle</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1"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Calibri"/>
                <a:ea typeface="Calibri"/>
                <a:cs typeface="Calibri"/>
                <a:sym typeface="Calibri"/>
              </a:rPr>
              <a:t>By  Presenter Name</a:t>
            </a:r>
            <a:endParaRPr b="0" i="0" sz="1400" u="none" cap="none" strike="noStrike">
              <a:solidFill>
                <a:srgbClr val="000000"/>
              </a:solidFill>
              <a:latin typeface="Arial"/>
              <a:ea typeface="Arial"/>
              <a:cs typeface="Arial"/>
              <a:sym typeface="Arial"/>
            </a:endParaRPr>
          </a:p>
        </p:txBody>
      </p:sp>
      <p:sp>
        <p:nvSpPr>
          <p:cNvPr id="29" name="Google Shape;29;p13"/>
          <p:cNvSpPr txBox="1"/>
          <p:nvPr/>
        </p:nvSpPr>
        <p:spPr>
          <a:xfrm>
            <a:off x="0" y="4695825"/>
            <a:ext cx="9144000" cy="390525"/>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Clr>
                <a:srgbClr val="000000"/>
              </a:buClr>
              <a:buSzPts val="1200"/>
              <a:buFont typeface="Arial"/>
              <a:buNone/>
            </a:pPr>
            <a:r>
              <a:rPr b="0" i="1" lang="en-US" sz="1200" u="none" cap="none" strike="noStrike">
                <a:solidFill>
                  <a:schemeClr val="lt1"/>
                </a:solidFill>
                <a:latin typeface="Calibri"/>
                <a:ea typeface="Calibri"/>
                <a:cs typeface="Calibri"/>
                <a:sym typeface="Calibri"/>
              </a:rPr>
              <a:t>TRANSCENDING DISCIPLINES, TRANSFORMING LIVES</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pic>
        <p:nvPicPr>
          <p:cNvPr descr="16x9_grey.jpg" id="31" name="Google Shape;31;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2" name="Google Shape;32;p14"/>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33" name="Google Shape;33;p14"/>
          <p:cNvPicPr preferRelativeResize="0"/>
          <p:nvPr/>
        </p:nvPicPr>
        <p:blipFill rotWithShape="1">
          <a:blip r:embed="rId3">
            <a:alphaModFix/>
          </a:blip>
          <a:srcRect b="0" l="0" r="0" t="0"/>
          <a:stretch/>
        </p:blipFill>
        <p:spPr>
          <a:xfrm>
            <a:off x="7162800" y="4803775"/>
            <a:ext cx="1827213" cy="222250"/>
          </a:xfrm>
          <a:prstGeom prst="rect">
            <a:avLst/>
          </a:prstGeom>
          <a:noFill/>
          <a:ln>
            <a:noFill/>
          </a:ln>
        </p:spPr>
      </p:pic>
      <p:sp>
        <p:nvSpPr>
          <p:cNvPr id="34" name="Google Shape;34;p14"/>
          <p:cNvSpPr txBox="1"/>
          <p:nvPr/>
        </p:nvSpPr>
        <p:spPr>
          <a:xfrm>
            <a:off x="0" y="1733550"/>
            <a:ext cx="9144000" cy="86201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1" lang="en-US" sz="3200" u="none" cap="none" strike="noStrike">
                <a:solidFill>
                  <a:schemeClr val="lt1"/>
                </a:solidFill>
                <a:latin typeface="Calibri"/>
                <a:ea typeface="Calibri"/>
                <a:cs typeface="Calibri"/>
                <a:sym typeface="Calibri"/>
              </a:rPr>
              <a:t>Section Title Section Title </a:t>
            </a:r>
            <a:endParaRPr b="0" i="1"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1" lang="en-US" sz="1800" u="none" cap="none" strike="noStrike">
                <a:solidFill>
                  <a:schemeClr val="lt1"/>
                </a:solidFill>
                <a:latin typeface="Calibri"/>
                <a:ea typeface="Calibri"/>
                <a:cs typeface="Calibri"/>
                <a:sym typeface="Calibri"/>
              </a:rPr>
              <a:t>Section Subtitle Section Subtitle</a:t>
            </a:r>
            <a:endParaRPr b="0" i="0" sz="1400" u="none" cap="none" strike="noStrike">
              <a:solidFill>
                <a:srgbClr val="000000"/>
              </a:solidFill>
              <a:latin typeface="Arial"/>
              <a:ea typeface="Arial"/>
              <a:cs typeface="Arial"/>
              <a:sym typeface="Arial"/>
            </a:endParaRPr>
          </a:p>
        </p:txBody>
      </p:sp>
      <p:sp>
        <p:nvSpPr>
          <p:cNvPr id="35" name="Google Shape;35;p14"/>
          <p:cNvSpPr txBox="1"/>
          <p:nvPr/>
        </p:nvSpPr>
        <p:spPr>
          <a:xfrm>
            <a:off x="255588" y="4695825"/>
            <a:ext cx="6781800" cy="39052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Calibri"/>
                <a:ea typeface="Calibri"/>
                <a:cs typeface="Calibri"/>
                <a:sym typeface="Calibri"/>
              </a:rPr>
              <a:t>‹#›</a:t>
            </a:fld>
            <a:r>
              <a:rPr b="1" i="0" lang="en-US" sz="1200" u="none" cap="none" strike="noStrike">
                <a:solidFill>
                  <a:schemeClr val="lt1"/>
                </a:solidFill>
                <a:latin typeface="Calibri"/>
                <a:ea typeface="Calibri"/>
                <a:cs typeface="Calibri"/>
                <a:sym typeface="Calibri"/>
              </a:rPr>
              <a:t> </a:t>
            </a:r>
            <a:r>
              <a:rPr b="0" i="0" lang="en-US" sz="1200" u="none" cap="none" strike="noStrike">
                <a:solidFill>
                  <a:schemeClr val="lt1"/>
                </a:solidFill>
                <a:latin typeface="Calibri"/>
                <a:ea typeface="Calibri"/>
                <a:cs typeface="Calibri"/>
                <a:sym typeface="Calibri"/>
              </a:rPr>
              <a:t>|</a:t>
            </a:r>
            <a:r>
              <a:rPr b="1" i="0" lang="en-US" sz="1200" u="none" cap="none" strike="noStrike">
                <a:solidFill>
                  <a:schemeClr val="lt1"/>
                </a:solidFill>
                <a:latin typeface="Calibri"/>
                <a:ea typeface="Calibri"/>
                <a:cs typeface="Calibri"/>
                <a:sym typeface="Calibri"/>
              </a:rPr>
              <a:t> </a:t>
            </a:r>
            <a:r>
              <a:rPr b="0" i="1" lang="en-US" sz="1200" u="none" cap="none" strike="noStrike">
                <a:solidFill>
                  <a:schemeClr val="lt1"/>
                </a:solidFill>
                <a:latin typeface="Calibri"/>
                <a:ea typeface="Calibri"/>
                <a:cs typeface="Calibri"/>
                <a:sym typeface="Calibri"/>
              </a:rPr>
              <a:t>Presentation Title Presentation Title</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solidFill>
          <a:schemeClr val="dk1"/>
        </a:solidFill>
      </p:bgPr>
    </p:bg>
    <p:spTree>
      <p:nvGrpSpPr>
        <p:cNvPr id="36" name="Shape 36"/>
        <p:cNvGrpSpPr/>
        <p:nvPr/>
      </p:nvGrpSpPr>
      <p:grpSpPr>
        <a:xfrm>
          <a:off x="0" y="0"/>
          <a:ext cx="0" cy="0"/>
          <a:chOff x="0" y="0"/>
          <a:chExt cx="0" cy="0"/>
        </a:xfrm>
      </p:grpSpPr>
      <p:sp>
        <p:nvSpPr>
          <p:cNvPr id="37" name="Google Shape;37;p15"/>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38" name="Google Shape;38;p15"/>
          <p:cNvPicPr preferRelativeResize="0"/>
          <p:nvPr/>
        </p:nvPicPr>
        <p:blipFill rotWithShape="1">
          <a:blip r:embed="rId2">
            <a:alphaModFix/>
          </a:blip>
          <a:srcRect b="0" l="0" r="0" t="0"/>
          <a:stretch/>
        </p:blipFill>
        <p:spPr>
          <a:xfrm>
            <a:off x="7162800" y="4803775"/>
            <a:ext cx="1827213" cy="222250"/>
          </a:xfrm>
          <a:prstGeom prst="rect">
            <a:avLst/>
          </a:prstGeom>
          <a:noFill/>
          <a:ln>
            <a:noFill/>
          </a:ln>
        </p:spPr>
      </p:pic>
      <p:sp>
        <p:nvSpPr>
          <p:cNvPr id="39" name="Google Shape;39;p15"/>
          <p:cNvSpPr txBox="1"/>
          <p:nvPr/>
        </p:nvSpPr>
        <p:spPr>
          <a:xfrm>
            <a:off x="255588" y="4695825"/>
            <a:ext cx="6781800" cy="39052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Calibri"/>
                <a:ea typeface="Calibri"/>
                <a:cs typeface="Calibri"/>
                <a:sym typeface="Calibri"/>
              </a:rPr>
              <a:t>‹#›</a:t>
            </a:fld>
            <a:r>
              <a:rPr b="1" i="0" lang="en-US" sz="1200" u="none" cap="none" strike="noStrike">
                <a:solidFill>
                  <a:schemeClr val="lt1"/>
                </a:solidFill>
                <a:latin typeface="Calibri"/>
                <a:ea typeface="Calibri"/>
                <a:cs typeface="Calibri"/>
                <a:sym typeface="Calibri"/>
              </a:rPr>
              <a:t> </a:t>
            </a:r>
            <a:r>
              <a:rPr b="0" i="0" lang="en-US" sz="1200" u="none" cap="none" strike="noStrike">
                <a:solidFill>
                  <a:schemeClr val="lt1"/>
                </a:solidFill>
                <a:latin typeface="Calibri"/>
                <a:ea typeface="Calibri"/>
                <a:cs typeface="Calibri"/>
                <a:sym typeface="Calibri"/>
              </a:rPr>
              <a:t>|</a:t>
            </a:r>
            <a:r>
              <a:rPr b="1" i="0" lang="en-US" sz="1200" u="none" cap="none" strike="noStrike">
                <a:solidFill>
                  <a:schemeClr val="lt1"/>
                </a:solidFill>
                <a:latin typeface="Calibri"/>
                <a:ea typeface="Calibri"/>
                <a:cs typeface="Calibri"/>
                <a:sym typeface="Calibri"/>
              </a:rPr>
              <a:t> </a:t>
            </a:r>
            <a:r>
              <a:rPr b="0" i="1" lang="en-US" sz="1200" u="none" cap="none" strike="noStrike">
                <a:solidFill>
                  <a:schemeClr val="lt1"/>
                </a:solidFill>
                <a:latin typeface="Calibri"/>
                <a:ea typeface="Calibri"/>
                <a:cs typeface="Calibri"/>
                <a:sym typeface="Calibri"/>
              </a:rPr>
              <a:t>Presentation Title Presentation Title</a:t>
            </a:r>
            <a:endParaRPr b="0" i="0" sz="1400" u="none" cap="none" strike="noStrike">
              <a:solidFill>
                <a:srgbClr val="000000"/>
              </a:solidFill>
              <a:latin typeface="Arial"/>
              <a:ea typeface="Arial"/>
              <a:cs typeface="Arial"/>
              <a:sym typeface="Arial"/>
            </a:endParaRPr>
          </a:p>
        </p:txBody>
      </p:sp>
      <p:sp>
        <p:nvSpPr>
          <p:cNvPr id="40" name="Google Shape;40;p15"/>
          <p:cNvSpPr txBox="1"/>
          <p:nvPr>
            <p:ph type="title"/>
          </p:nvPr>
        </p:nvSpPr>
        <p:spPr>
          <a:xfrm>
            <a:off x="228600" y="0"/>
            <a:ext cx="43434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sz="2400">
                <a:solidFill>
                  <a:schemeClr val="lt1"/>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1" name="Google Shape;41;p15"/>
          <p:cNvSpPr txBox="1"/>
          <p:nvPr>
            <p:ph idx="1" type="body"/>
          </p:nvPr>
        </p:nvSpPr>
        <p:spPr>
          <a:xfrm>
            <a:off x="228600" y="731520"/>
            <a:ext cx="4343400" cy="3886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400"/>
              </a:spcBef>
              <a:spcAft>
                <a:spcPts val="0"/>
              </a:spcAft>
              <a:buClr>
                <a:schemeClr val="lt1"/>
              </a:buClr>
              <a:buSzPts val="2000"/>
              <a:buNone/>
              <a:defRPr sz="2000">
                <a:solidFill>
                  <a:schemeClr val="lt1"/>
                </a:solidFill>
              </a:defRPr>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2" name="Shape 42"/>
        <p:cNvGrpSpPr/>
        <p:nvPr/>
      </p:nvGrpSpPr>
      <p:grpSpPr>
        <a:xfrm>
          <a:off x="0" y="0"/>
          <a:ext cx="0" cy="0"/>
          <a:chOff x="0" y="0"/>
          <a:chExt cx="0" cy="0"/>
        </a:xfrm>
      </p:grpSpPr>
      <p:sp>
        <p:nvSpPr>
          <p:cNvPr id="43" name="Google Shape;43;p16"/>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44" name="Google Shape;44;p16"/>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45" name="Google Shape;45;p16"/>
          <p:cNvPicPr preferRelativeResize="0"/>
          <p:nvPr/>
        </p:nvPicPr>
        <p:blipFill rotWithShape="1">
          <a:blip r:embed="rId2">
            <a:alphaModFix/>
          </a:blip>
          <a:srcRect b="0" l="0" r="0" t="0"/>
          <a:stretch/>
        </p:blipFill>
        <p:spPr>
          <a:xfrm>
            <a:off x="7162800" y="4803775"/>
            <a:ext cx="1827213" cy="222250"/>
          </a:xfrm>
          <a:prstGeom prst="rect">
            <a:avLst/>
          </a:prstGeom>
          <a:noFill/>
          <a:ln>
            <a:noFill/>
          </a:ln>
        </p:spPr>
      </p:pic>
      <p:sp>
        <p:nvSpPr>
          <p:cNvPr id="46" name="Google Shape;46;p16"/>
          <p:cNvSpPr txBox="1"/>
          <p:nvPr/>
        </p:nvSpPr>
        <p:spPr>
          <a:xfrm>
            <a:off x="255588" y="4695825"/>
            <a:ext cx="6781800" cy="39052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Calibri"/>
                <a:ea typeface="Calibri"/>
                <a:cs typeface="Calibri"/>
                <a:sym typeface="Calibri"/>
              </a:rPr>
              <a:t>‹#›</a:t>
            </a:fld>
            <a:r>
              <a:rPr b="1" i="0" lang="en-US" sz="1200" u="none" cap="none" strike="noStrike">
                <a:solidFill>
                  <a:schemeClr val="lt1"/>
                </a:solidFill>
                <a:latin typeface="Calibri"/>
                <a:ea typeface="Calibri"/>
                <a:cs typeface="Calibri"/>
                <a:sym typeface="Calibri"/>
              </a:rPr>
              <a:t> </a:t>
            </a:r>
            <a:r>
              <a:rPr b="0" i="0" lang="en-US" sz="1200" u="none" cap="none" strike="noStrike">
                <a:solidFill>
                  <a:schemeClr val="lt1"/>
                </a:solidFill>
                <a:latin typeface="Calibri"/>
                <a:ea typeface="Calibri"/>
                <a:cs typeface="Calibri"/>
                <a:sym typeface="Calibri"/>
              </a:rPr>
              <a:t>|</a:t>
            </a:r>
            <a:r>
              <a:rPr b="1" i="0" lang="en-US" sz="1200" u="none" cap="none" strike="noStrike">
                <a:solidFill>
                  <a:schemeClr val="lt1"/>
                </a:solidFill>
                <a:latin typeface="Calibri"/>
                <a:ea typeface="Calibri"/>
                <a:cs typeface="Calibri"/>
                <a:sym typeface="Calibri"/>
              </a:rPr>
              <a:t> </a:t>
            </a:r>
            <a:r>
              <a:rPr b="0" i="1" lang="en-US" sz="1200" u="none" cap="none" strike="noStrike">
                <a:solidFill>
                  <a:schemeClr val="lt1"/>
                </a:solidFill>
                <a:latin typeface="Calibri"/>
                <a:ea typeface="Calibri"/>
                <a:cs typeface="Calibri"/>
                <a:sym typeface="Calibri"/>
              </a:rPr>
              <a:t>Presentation Title Presentation Title</a:t>
            </a:r>
            <a:endParaRPr b="0" i="0" sz="1400" u="none" cap="none" strike="noStrike">
              <a:solidFill>
                <a:srgbClr val="000000"/>
              </a:solidFill>
              <a:latin typeface="Arial"/>
              <a:ea typeface="Arial"/>
              <a:cs typeface="Arial"/>
              <a:sym typeface="Arial"/>
            </a:endParaRPr>
          </a:p>
        </p:txBody>
      </p:sp>
      <p:sp>
        <p:nvSpPr>
          <p:cNvPr id="47" name="Google Shape;47;p16"/>
          <p:cNvSpPr txBox="1"/>
          <p:nvPr>
            <p:ph idx="1" type="body"/>
          </p:nvPr>
        </p:nvSpPr>
        <p:spPr>
          <a:xfrm>
            <a:off x="228600" y="731519"/>
            <a:ext cx="4343400" cy="3886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400"/>
              </a:spcBef>
              <a:spcAft>
                <a:spcPts val="0"/>
              </a:spcAft>
              <a:buClr>
                <a:schemeClr val="dk1"/>
              </a:buClr>
              <a:buSzPts val="2000"/>
              <a:buNone/>
              <a:defRPr sz="20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48" name="Google Shape;48;p16"/>
          <p:cNvSpPr txBox="1"/>
          <p:nvPr>
            <p:ph type="title"/>
          </p:nvPr>
        </p:nvSpPr>
        <p:spPr>
          <a:xfrm>
            <a:off x="228600" y="0"/>
            <a:ext cx="4343400" cy="457200"/>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SzPts val="1400"/>
              <a:buNone/>
              <a:defRPr sz="2400">
                <a:solidFill>
                  <a:srgbClr val="FFFFFF"/>
                </a:solidFill>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bg>
      <p:bgPr>
        <a:solidFill>
          <a:schemeClr val="dk1"/>
        </a:solidFill>
      </p:bgPr>
    </p:bg>
    <p:spTree>
      <p:nvGrpSpPr>
        <p:cNvPr id="49" name="Shape 49"/>
        <p:cNvGrpSpPr/>
        <p:nvPr/>
      </p:nvGrpSpPr>
      <p:grpSpPr>
        <a:xfrm>
          <a:off x="0" y="0"/>
          <a:ext cx="0" cy="0"/>
          <a:chOff x="0" y="0"/>
          <a:chExt cx="0" cy="0"/>
        </a:xfrm>
      </p:grpSpPr>
      <p:sp>
        <p:nvSpPr>
          <p:cNvPr id="50" name="Google Shape;50;p17"/>
          <p:cNvSpPr/>
          <p:nvPr/>
        </p:nvSpPr>
        <p:spPr>
          <a:xfrm>
            <a:off x="0" y="0"/>
            <a:ext cx="9144000" cy="4572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1" name="Google Shape;51;p17"/>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52" name="Google Shape;52;p17"/>
          <p:cNvPicPr preferRelativeResize="0"/>
          <p:nvPr/>
        </p:nvPicPr>
        <p:blipFill rotWithShape="1">
          <a:blip r:embed="rId2">
            <a:alphaModFix/>
          </a:blip>
          <a:srcRect b="0" l="0" r="0" t="0"/>
          <a:stretch/>
        </p:blipFill>
        <p:spPr>
          <a:xfrm>
            <a:off x="7162800" y="4803775"/>
            <a:ext cx="1827213" cy="222250"/>
          </a:xfrm>
          <a:prstGeom prst="rect">
            <a:avLst/>
          </a:prstGeom>
          <a:noFill/>
          <a:ln>
            <a:noFill/>
          </a:ln>
        </p:spPr>
      </p:pic>
      <p:sp>
        <p:nvSpPr>
          <p:cNvPr id="53" name="Google Shape;53;p17"/>
          <p:cNvSpPr txBox="1"/>
          <p:nvPr/>
        </p:nvSpPr>
        <p:spPr>
          <a:xfrm>
            <a:off x="255588" y="4695825"/>
            <a:ext cx="6781800" cy="390525"/>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200"/>
              <a:buFont typeface="Arial"/>
              <a:buNone/>
            </a:pPr>
            <a:fld id="{00000000-1234-1234-1234-123412341234}" type="slidenum">
              <a:rPr b="1" i="0" lang="en-US" sz="1200" u="none" cap="none" strike="noStrike">
                <a:solidFill>
                  <a:schemeClr val="lt1"/>
                </a:solidFill>
                <a:latin typeface="Calibri"/>
                <a:ea typeface="Calibri"/>
                <a:cs typeface="Calibri"/>
                <a:sym typeface="Calibri"/>
              </a:rPr>
              <a:t>‹#›</a:t>
            </a:fld>
            <a:r>
              <a:rPr b="1" i="0" lang="en-US" sz="1200" u="none" cap="none" strike="noStrike">
                <a:solidFill>
                  <a:schemeClr val="lt1"/>
                </a:solidFill>
                <a:latin typeface="Calibri"/>
                <a:ea typeface="Calibri"/>
                <a:cs typeface="Calibri"/>
                <a:sym typeface="Calibri"/>
              </a:rPr>
              <a:t> </a:t>
            </a:r>
            <a:r>
              <a:rPr b="0" i="0" lang="en-US" sz="1200" u="none" cap="none" strike="noStrike">
                <a:solidFill>
                  <a:schemeClr val="lt1"/>
                </a:solidFill>
                <a:latin typeface="Calibri"/>
                <a:ea typeface="Calibri"/>
                <a:cs typeface="Calibri"/>
                <a:sym typeface="Calibri"/>
              </a:rPr>
              <a:t>|</a:t>
            </a:r>
            <a:r>
              <a:rPr b="1" i="0" lang="en-US" sz="1200" u="none" cap="none" strike="noStrike">
                <a:solidFill>
                  <a:schemeClr val="lt1"/>
                </a:solidFill>
                <a:latin typeface="Calibri"/>
                <a:ea typeface="Calibri"/>
                <a:cs typeface="Calibri"/>
                <a:sym typeface="Calibri"/>
              </a:rPr>
              <a:t> </a:t>
            </a:r>
            <a:r>
              <a:rPr b="0" i="1" lang="en-US" sz="1200" u="none" cap="none" strike="noStrike">
                <a:solidFill>
                  <a:schemeClr val="lt1"/>
                </a:solidFill>
                <a:latin typeface="Calibri"/>
                <a:ea typeface="Calibri"/>
                <a:cs typeface="Calibri"/>
                <a:sym typeface="Calibri"/>
              </a:rPr>
              <a:t>Presentation Title Presentation Title</a:t>
            </a:r>
            <a:endParaRPr b="0" i="0" sz="1400" u="none" cap="none" strike="noStrike">
              <a:solidFill>
                <a:srgbClr val="000000"/>
              </a:solidFill>
              <a:latin typeface="Arial"/>
              <a:ea typeface="Arial"/>
              <a:cs typeface="Arial"/>
              <a:sym typeface="Arial"/>
            </a:endParaRPr>
          </a:p>
        </p:txBody>
      </p:sp>
      <p:sp>
        <p:nvSpPr>
          <p:cNvPr id="54" name="Google Shape;54;p17"/>
          <p:cNvSpPr txBox="1"/>
          <p:nvPr>
            <p:ph type="title"/>
          </p:nvPr>
        </p:nvSpPr>
        <p:spPr>
          <a:xfrm>
            <a:off x="228600" y="0"/>
            <a:ext cx="4343400" cy="452521"/>
          </a:xfrm>
          <a:prstGeom prst="rect">
            <a:avLst/>
          </a:prstGeom>
          <a:noFill/>
          <a:ln>
            <a:noFill/>
          </a:ln>
        </p:spPr>
        <p:txBody>
          <a:bodyPr anchorCtr="0" anchor="t" bIns="45700" lIns="91425" spcFirstLastPara="1" rIns="91425" wrap="square" tIns="45700">
            <a:spAutoFit/>
          </a:bodyPr>
          <a:lstStyle>
            <a:lvl1pPr lvl="0" algn="l">
              <a:lnSpc>
                <a:spcPct val="100000"/>
              </a:lnSpc>
              <a:spcBef>
                <a:spcPts val="0"/>
              </a:spcBef>
              <a:spcAft>
                <a:spcPts val="0"/>
              </a:spcAft>
              <a:buSzPts val="1400"/>
              <a:buNone/>
              <a:defRPr sz="2400">
                <a:latin typeface="Calibri"/>
                <a:ea typeface="Calibri"/>
                <a:cs typeface="Calibri"/>
                <a:sym typeface="Calibri"/>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5" name="Google Shape;55;p17"/>
          <p:cNvSpPr txBox="1"/>
          <p:nvPr>
            <p:ph idx="1" type="body"/>
          </p:nvPr>
        </p:nvSpPr>
        <p:spPr>
          <a:xfrm>
            <a:off x="228600" y="731520"/>
            <a:ext cx="4343400" cy="3886200"/>
          </a:xfrm>
          <a:prstGeom prst="rect">
            <a:avLst/>
          </a:prstGeom>
          <a:noFill/>
          <a:ln>
            <a:noFill/>
          </a:ln>
        </p:spPr>
        <p:txBody>
          <a:bodyPr anchorCtr="0" anchor="t" bIns="45700" lIns="91425" spcFirstLastPara="1" rIns="91425" wrap="square" tIns="45700">
            <a:spAutoFit/>
          </a:bodyPr>
          <a:lstStyle>
            <a:lvl1pPr indent="-228600" lvl="0" marL="457200" algn="l">
              <a:lnSpc>
                <a:spcPct val="100000"/>
              </a:lnSpc>
              <a:spcBef>
                <a:spcPts val="400"/>
              </a:spcBef>
              <a:spcAft>
                <a:spcPts val="0"/>
              </a:spcAft>
              <a:buClr>
                <a:schemeClr val="lt1"/>
              </a:buClr>
              <a:buSzPts val="2000"/>
              <a:buNone/>
              <a:defRPr sz="2000">
                <a:solidFill>
                  <a:schemeClr val="lt1"/>
                </a:solidFill>
              </a:defRPr>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8"/>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8" name="Google Shape;58;p18"/>
          <p:cNvSpPr txBox="1"/>
          <p:nvPr>
            <p:ph idx="1" type="body"/>
          </p:nvPr>
        </p:nvSpPr>
        <p:spPr>
          <a:xfrm>
            <a:off x="457200" y="1200151"/>
            <a:ext cx="4038600" cy="339447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59" name="Google Shape;59;p18"/>
          <p:cNvSpPr txBox="1"/>
          <p:nvPr>
            <p:ph idx="2" type="body"/>
          </p:nvPr>
        </p:nvSpPr>
        <p:spPr>
          <a:xfrm>
            <a:off x="4648200" y="1200151"/>
            <a:ext cx="4038600" cy="3394472"/>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0" name="Google Shape;60;p18"/>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8"/>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8"/>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19"/>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5" name="Google Shape;65;p19"/>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6" name="Google Shape;66;p19"/>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7" name="Google Shape;67;p19"/>
          <p:cNvSpPr txBox="1"/>
          <p:nvPr>
            <p:ph idx="3" type="body"/>
          </p:nvPr>
        </p:nvSpPr>
        <p:spPr>
          <a:xfrm>
            <a:off x="4645026" y="1151335"/>
            <a:ext cx="4041775" cy="47982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68" name="Google Shape;68;p19"/>
          <p:cNvSpPr txBox="1"/>
          <p:nvPr>
            <p:ph idx="4" type="body"/>
          </p:nvPr>
        </p:nvSpPr>
        <p:spPr>
          <a:xfrm>
            <a:off x="4645026" y="1631156"/>
            <a:ext cx="4041775" cy="2963466"/>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69" name="Google Shape;69;p19"/>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9"/>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0"/>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4" name="Google Shape;74;p20"/>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0"/>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0"/>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7" name="Shape 77"/>
        <p:cNvGrpSpPr/>
        <p:nvPr/>
      </p:nvGrpSpPr>
      <p:grpSpPr>
        <a:xfrm>
          <a:off x="0" y="0"/>
          <a:ext cx="0" cy="0"/>
          <a:chOff x="0" y="0"/>
          <a:chExt cx="0" cy="0"/>
        </a:xfrm>
      </p:grpSpPr>
      <p:sp>
        <p:nvSpPr>
          <p:cNvPr id="78" name="Google Shape;78;p21"/>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1"/>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1"/>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1" name="Shape 81"/>
        <p:cNvGrpSpPr/>
        <p:nvPr/>
      </p:nvGrpSpPr>
      <p:grpSpPr>
        <a:xfrm>
          <a:off x="0" y="0"/>
          <a:ext cx="0" cy="0"/>
          <a:chOff x="0" y="0"/>
          <a:chExt cx="0" cy="0"/>
        </a:xfrm>
      </p:grpSpPr>
      <p:sp>
        <p:nvSpPr>
          <p:cNvPr id="82" name="Google Shape;82;p22"/>
          <p:cNvSpPr txBox="1"/>
          <p:nvPr>
            <p:ph type="title"/>
          </p:nvPr>
        </p:nvSpPr>
        <p:spPr>
          <a:xfrm>
            <a:off x="457201" y="204787"/>
            <a:ext cx="3008313" cy="8715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3" name="Google Shape;83;p22"/>
          <p:cNvSpPr txBox="1"/>
          <p:nvPr>
            <p:ph idx="1" type="body"/>
          </p:nvPr>
        </p:nvSpPr>
        <p:spPr>
          <a:xfrm>
            <a:off x="3575050" y="204788"/>
            <a:ext cx="5111750" cy="4389835"/>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84" name="Google Shape;84;p22"/>
          <p:cNvSpPr txBox="1"/>
          <p:nvPr>
            <p:ph idx="2" type="body"/>
          </p:nvPr>
        </p:nvSpPr>
        <p:spPr>
          <a:xfrm>
            <a:off x="457201" y="1076326"/>
            <a:ext cx="3008313" cy="351829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85" name="Google Shape;85;p22"/>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22"/>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2"/>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88A44D"/>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8" name="Shape 88"/>
        <p:cNvGrpSpPr/>
        <p:nvPr/>
      </p:nvGrpSpPr>
      <p:grpSpPr>
        <a:xfrm>
          <a:off x="0" y="0"/>
          <a:ext cx="0" cy="0"/>
          <a:chOff x="0" y="0"/>
          <a:chExt cx="0" cy="0"/>
        </a:xfrm>
      </p:grpSpPr>
      <p:sp>
        <p:nvSpPr>
          <p:cNvPr id="89" name="Google Shape;89;p23"/>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0" name="Google Shape;90;p23"/>
          <p:cNvSpPr/>
          <p:nvPr>
            <p:ph idx="2" type="pic"/>
          </p:nvPr>
        </p:nvSpPr>
        <p:spPr>
          <a:xfrm>
            <a:off x="1792288" y="459581"/>
            <a:ext cx="5486400" cy="3086100"/>
          </a:xfrm>
          <a:prstGeom prst="rect">
            <a:avLst/>
          </a:prstGeom>
          <a:noFill/>
          <a:ln>
            <a:noFill/>
          </a:ln>
        </p:spPr>
      </p:sp>
      <p:sp>
        <p:nvSpPr>
          <p:cNvPr id="91" name="Google Shape;91;p23"/>
          <p:cNvSpPr txBox="1"/>
          <p:nvPr>
            <p:ph idx="1" type="body"/>
          </p:nvPr>
        </p:nvSpPr>
        <p:spPr>
          <a:xfrm>
            <a:off x="1792288" y="4025503"/>
            <a:ext cx="5486400" cy="603647"/>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2" name="Google Shape;92;p23"/>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3"/>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23"/>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24"/>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 name="Google Shape;97;p24"/>
          <p:cNvSpPr txBox="1"/>
          <p:nvPr>
            <p:ph idx="1" type="body"/>
          </p:nvPr>
        </p:nvSpPr>
        <p:spPr>
          <a:xfrm rot="5400000">
            <a:off x="2874963" y="-1217612"/>
            <a:ext cx="3394075"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8" name="Google Shape;98;p24"/>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4"/>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24"/>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1" name="Shape 101"/>
        <p:cNvGrpSpPr/>
        <p:nvPr/>
      </p:nvGrpSpPr>
      <p:grpSpPr>
        <a:xfrm>
          <a:off x="0" y="0"/>
          <a:ext cx="0" cy="0"/>
          <a:chOff x="0" y="0"/>
          <a:chExt cx="0" cy="0"/>
        </a:xfrm>
      </p:grpSpPr>
      <p:sp>
        <p:nvSpPr>
          <p:cNvPr id="102" name="Google Shape;102;p25"/>
          <p:cNvSpPr txBox="1"/>
          <p:nvPr>
            <p:ph type="title"/>
          </p:nvPr>
        </p:nvSpPr>
        <p:spPr>
          <a:xfrm rot="5400000">
            <a:off x="5463778" y="1371601"/>
            <a:ext cx="4388644"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3" name="Google Shape;103;p25"/>
          <p:cNvSpPr txBox="1"/>
          <p:nvPr>
            <p:ph idx="1" type="body"/>
          </p:nvPr>
        </p:nvSpPr>
        <p:spPr>
          <a:xfrm rot="5400000">
            <a:off x="1272778" y="-609599"/>
            <a:ext cx="4388644"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p25"/>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5"/>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5"/>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457200" y="206375"/>
            <a:ext cx="8229600" cy="85725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10"/>
          <p:cNvSpPr txBox="1"/>
          <p:nvPr>
            <p:ph idx="1" type="body"/>
          </p:nvPr>
        </p:nvSpPr>
        <p:spPr>
          <a:xfrm>
            <a:off x="457200" y="1200150"/>
            <a:ext cx="8229600" cy="339407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457200" y="4767263"/>
            <a:ext cx="2133600" cy="274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3124200" y="4767263"/>
            <a:ext cx="2895600" cy="2746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6553200" y="4767263"/>
            <a:ext cx="2133600" cy="274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Beautify this slide" id="112" name="Google Shape;112;g3af55fae002_0_15"/>
          <p:cNvPicPr preferRelativeResize="0"/>
          <p:nvPr/>
        </p:nvPicPr>
        <p:blipFill>
          <a:blip r:embed="rId3">
            <a:alphaModFix/>
          </a:blip>
          <a:stretch>
            <a:fillRect/>
          </a:stretch>
        </p:blipFill>
        <p:spPr>
          <a:xfrm>
            <a:off x="225" y="-77364"/>
            <a:ext cx="9143545" cy="5103381"/>
          </a:xfrm>
          <a:prstGeom prst="rect">
            <a:avLst/>
          </a:prstGeom>
          <a:noFill/>
          <a:ln>
            <a:noFill/>
          </a:ln>
        </p:spPr>
      </p:pic>
      <p:sp>
        <p:nvSpPr>
          <p:cNvPr id="113" name="Google Shape;113;g3af55fae002_0_15"/>
          <p:cNvSpPr/>
          <p:nvPr/>
        </p:nvSpPr>
        <p:spPr>
          <a:xfrm>
            <a:off x="0" y="4686300"/>
            <a:ext cx="9144000" cy="457200"/>
          </a:xfrm>
          <a:prstGeom prst="rect">
            <a:avLst/>
          </a:prstGeom>
          <a:solidFill>
            <a:srgbClr val="1A2C64"/>
          </a:solidFill>
          <a:ln>
            <a:noFill/>
          </a:ln>
          <a:effectLst>
            <a:outerShdw blurRad="40000" rotWithShape="0" dir="5400000" dist="23000">
              <a:srgbClr val="808080">
                <a:alpha val="34510"/>
              </a:srgbClr>
            </a:outerShdw>
          </a:effectLst>
        </p:spPr>
        <p:txBody>
          <a:bodyPr anchorCtr="0" anchor="ctr" bIns="45700" lIns="91425" spcFirstLastPara="1" rIns="91425" wrap="square" tIns="45700">
            <a:noAutofit/>
          </a:bodyPr>
          <a:lstStyle/>
          <a:p>
            <a:pPr indent="0" lvl="0" marL="0" marR="0" rtl="0" algn="l">
              <a:lnSpc>
                <a:spcPct val="200000"/>
              </a:lnSpc>
              <a:spcBef>
                <a:spcPts val="0"/>
              </a:spcBef>
              <a:spcAft>
                <a:spcPts val="0"/>
              </a:spcAft>
              <a:buClr>
                <a:schemeClr val="lt1"/>
              </a:buClr>
              <a:buSzPts val="1200"/>
              <a:buFont typeface="Arial"/>
              <a:buNone/>
            </a:pPr>
            <a:r>
              <a:t/>
            </a:r>
            <a:endParaRPr b="0" i="0" sz="1800" u="none" cap="none" strike="noStrike">
              <a:solidFill>
                <a:srgbClr val="E5B8B7"/>
              </a:solidFill>
              <a:latin typeface="Calibri"/>
              <a:ea typeface="Calibri"/>
              <a:cs typeface="Calibri"/>
              <a:sym typeface="Calibri"/>
            </a:endParaRPr>
          </a:p>
        </p:txBody>
      </p:sp>
      <p:pic>
        <p:nvPicPr>
          <p:cNvPr id="114" name="Google Shape;114;g3af55fae002_0_15"/>
          <p:cNvPicPr preferRelativeResize="0"/>
          <p:nvPr/>
        </p:nvPicPr>
        <p:blipFill rotWithShape="1">
          <a:blip r:embed="rId4">
            <a:alphaModFix/>
          </a:blip>
          <a:srcRect b="0" l="0" r="0" t="0"/>
          <a:stretch/>
        </p:blipFill>
        <p:spPr>
          <a:xfrm>
            <a:off x="7162800" y="4803775"/>
            <a:ext cx="1827213" cy="222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21" name="Google Shape;121;p2"/>
          <p:cNvSpPr/>
          <p:nvPr/>
        </p:nvSpPr>
        <p:spPr>
          <a:xfrm>
            <a:off x="228600" y="0"/>
            <a:ext cx="8915400"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Why this Project?</a:t>
            </a:r>
            <a:endParaRPr b="0" i="0" sz="1400" u="none" cap="none" strike="noStrike">
              <a:solidFill>
                <a:srgbClr val="000000"/>
              </a:solidFill>
              <a:latin typeface="Arial"/>
              <a:ea typeface="Arial"/>
              <a:cs typeface="Arial"/>
              <a:sym typeface="Arial"/>
            </a:endParaRPr>
          </a:p>
        </p:txBody>
      </p:sp>
      <p:sp>
        <p:nvSpPr>
          <p:cNvPr id="122" name="Google Shape;122;p2"/>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23" name="Google Shape;123;p2"/>
          <p:cNvPicPr preferRelativeResize="0"/>
          <p:nvPr/>
        </p:nvPicPr>
        <p:blipFill rotWithShape="1">
          <a:blip r:embed="rId3">
            <a:alphaModFix/>
          </a:blip>
          <a:srcRect b="0" l="0" r="0" t="0"/>
          <a:stretch/>
        </p:blipFill>
        <p:spPr>
          <a:xfrm>
            <a:off x="7162800" y="4803775"/>
            <a:ext cx="1827213" cy="222250"/>
          </a:xfrm>
          <a:prstGeom prst="rect">
            <a:avLst/>
          </a:prstGeom>
          <a:noFill/>
          <a:ln>
            <a:noFill/>
          </a:ln>
        </p:spPr>
      </p:pic>
      <p:sp>
        <p:nvSpPr>
          <p:cNvPr id="124" name="Google Shape;124;p2"/>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i="0" lang="en-US" sz="1200" u="none" cap="none" strike="noStrike">
                <a:solidFill>
                  <a:schemeClr val="lt1"/>
                </a:solidFill>
                <a:latin typeface="Calibri"/>
                <a:ea typeface="Calibri"/>
                <a:cs typeface="Calibri"/>
                <a:sym typeface="Calibri"/>
              </a:rPr>
              <a:t>1| Brazil Extreme Rainfall Intensity Forecaster</a:t>
            </a:r>
            <a:endParaRPr b="1" i="0" sz="1200" u="none" cap="none" strike="noStrike">
              <a:solidFill>
                <a:schemeClr val="lt1"/>
              </a:solidFill>
              <a:latin typeface="Calibri"/>
              <a:ea typeface="Calibri"/>
              <a:cs typeface="Calibri"/>
              <a:sym typeface="Calibri"/>
            </a:endParaRPr>
          </a:p>
        </p:txBody>
      </p:sp>
      <p:sp>
        <p:nvSpPr>
          <p:cNvPr id="125" name="Google Shape;125;p2"/>
          <p:cNvSpPr txBox="1"/>
          <p:nvPr/>
        </p:nvSpPr>
        <p:spPr>
          <a:xfrm>
            <a:off x="228600" y="868375"/>
            <a:ext cx="4134300" cy="31401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2024 floods in Rio Grande do Sul (RS), Brazil</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Urban drainage design still relies on static IDF curves</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Possible climate non-stationarity → traditional IDFs may be outdated</a:t>
            </a:r>
            <a:endParaRPr b="0" i="0" sz="18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1" i="0" lang="en-US" sz="1800" u="none" cap="none" strike="noStrike">
                <a:solidFill>
                  <a:schemeClr val="dk1"/>
                </a:solidFill>
                <a:latin typeface="Calibri"/>
                <a:ea typeface="Calibri"/>
                <a:cs typeface="Calibri"/>
                <a:sym typeface="Calibri"/>
              </a:rPr>
              <a:t>Question: Can ML help us understand and recalibrate rainfall extremes?</a:t>
            </a:r>
            <a:endParaRPr b="1" i="0" sz="1800" u="none" cap="none" strike="noStrike">
              <a:solidFill>
                <a:schemeClr val="dk1"/>
              </a:solidFill>
              <a:latin typeface="Calibri"/>
              <a:ea typeface="Calibri"/>
              <a:cs typeface="Calibri"/>
              <a:sym typeface="Calibri"/>
            </a:endParaRPr>
          </a:p>
        </p:txBody>
      </p:sp>
      <p:pic>
        <p:nvPicPr>
          <p:cNvPr descr="Source: Reuters " id="126" name="Google Shape;126;p2" title="BE6Q6J5FFZPAJAFBIWV27XIRWM.jpg"/>
          <p:cNvPicPr preferRelativeResize="0"/>
          <p:nvPr/>
        </p:nvPicPr>
        <p:blipFill rotWithShape="1">
          <a:blip r:embed="rId4">
            <a:alphaModFix/>
          </a:blip>
          <a:srcRect b="0" l="0" r="0" t="0"/>
          <a:stretch/>
        </p:blipFill>
        <p:spPr>
          <a:xfrm>
            <a:off x="4722500" y="722224"/>
            <a:ext cx="3771375" cy="36990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af26abed01_0_244"/>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33" name="Google Shape;133;g3af26abed01_0_244"/>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Research </a:t>
            </a:r>
            <a:endParaRPr b="0" i="0" sz="1400" u="none" cap="none" strike="noStrike">
              <a:solidFill>
                <a:srgbClr val="000000"/>
              </a:solidFill>
              <a:latin typeface="Arial"/>
              <a:ea typeface="Arial"/>
              <a:cs typeface="Arial"/>
              <a:sym typeface="Arial"/>
            </a:endParaRPr>
          </a:p>
        </p:txBody>
      </p:sp>
      <p:sp>
        <p:nvSpPr>
          <p:cNvPr id="134" name="Google Shape;134;g3af26abed01_0_244"/>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35" name="Google Shape;135;g3af26abed01_0_244"/>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136" name="Google Shape;136;g3af26abed01_0_244"/>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2</a:t>
            </a:r>
            <a:r>
              <a:rPr b="1" i="0" lang="en-US" sz="1200" u="none" cap="none" strike="noStrike">
                <a:solidFill>
                  <a:schemeClr val="lt1"/>
                </a:solidFill>
                <a:latin typeface="Calibri"/>
                <a:ea typeface="Calibri"/>
                <a:cs typeface="Calibri"/>
                <a:sym typeface="Calibri"/>
              </a:rPr>
              <a:t>| Brazil Extreme Rainfall Intensity Forecaster</a:t>
            </a:r>
            <a:endParaRPr b="1" i="0" sz="1200" u="none" cap="none" strike="noStrike">
              <a:solidFill>
                <a:schemeClr val="lt1"/>
              </a:solidFill>
              <a:latin typeface="Calibri"/>
              <a:ea typeface="Calibri"/>
              <a:cs typeface="Calibri"/>
              <a:sym typeface="Calibri"/>
            </a:endParaRPr>
          </a:p>
        </p:txBody>
      </p:sp>
      <p:sp>
        <p:nvSpPr>
          <p:cNvPr id="137" name="Google Shape;137;g3af26abed01_0_244"/>
          <p:cNvSpPr txBox="1"/>
          <p:nvPr/>
        </p:nvSpPr>
        <p:spPr>
          <a:xfrm>
            <a:off x="4317475" y="2907050"/>
            <a:ext cx="4134300" cy="1569900"/>
          </a:xfrm>
          <a:prstGeom prst="rect">
            <a:avLst/>
          </a:prstGeom>
          <a:noFill/>
          <a:ln>
            <a:noFill/>
          </a:ln>
        </p:spPr>
        <p:txBody>
          <a:bodyPr anchorCtr="0" anchor="t" bIns="45700" lIns="91425" spcFirstLastPara="1" rIns="91425" wrap="square" tIns="45700">
            <a:spAutoFit/>
          </a:bodyPr>
          <a:lstStyle/>
          <a:p>
            <a:pPr indent="0" lvl="0" marL="45720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Arial"/>
                <a:ea typeface="Arial"/>
                <a:cs typeface="Arial"/>
                <a:sym typeface="Arial"/>
              </a:rPr>
              <a:t>“Previous work has already used artificial neural networks as surrogates for IDF curves, learning the mapping from rainfall data to intensity–duration–frequency relationships. This suggests that ML can be used not only to </a:t>
            </a:r>
            <a:r>
              <a:rPr b="0" i="1" lang="en-US" sz="1200" u="none" cap="none" strike="noStrike">
                <a:solidFill>
                  <a:schemeClr val="dk1"/>
                </a:solidFill>
                <a:latin typeface="Arial"/>
                <a:ea typeface="Arial"/>
                <a:cs typeface="Arial"/>
                <a:sym typeface="Arial"/>
              </a:rPr>
              <a:t>fit</a:t>
            </a:r>
            <a:r>
              <a:rPr b="0" i="0" lang="en-US" sz="1200" u="none" cap="none" strike="noStrike">
                <a:solidFill>
                  <a:schemeClr val="dk1"/>
                </a:solidFill>
                <a:latin typeface="Arial"/>
                <a:ea typeface="Arial"/>
                <a:cs typeface="Arial"/>
                <a:sym typeface="Arial"/>
              </a:rPr>
              <a:t> extremes, but potentially to </a:t>
            </a:r>
            <a:r>
              <a:rPr b="0" i="1" lang="en-US" sz="1200" u="none" cap="none" strike="noStrike">
                <a:solidFill>
                  <a:schemeClr val="dk1"/>
                </a:solidFill>
                <a:latin typeface="Arial"/>
                <a:ea typeface="Arial"/>
                <a:cs typeface="Arial"/>
                <a:sym typeface="Arial"/>
              </a:rPr>
              <a:t>recalibrate</a:t>
            </a:r>
            <a:r>
              <a:rPr b="0" i="0" lang="en-US" sz="1200" u="none" cap="none" strike="noStrike">
                <a:solidFill>
                  <a:schemeClr val="dk1"/>
                </a:solidFill>
                <a:latin typeface="Arial"/>
                <a:ea typeface="Arial"/>
                <a:cs typeface="Arial"/>
                <a:sym typeface="Arial"/>
              </a:rPr>
              <a:t> them under new conditions (climate change, new data sets, etc.).”</a:t>
            </a:r>
            <a:endParaRPr b="1" i="0" sz="1900" u="none" cap="none" strike="noStrike">
              <a:solidFill>
                <a:schemeClr val="dk1"/>
              </a:solidFill>
              <a:latin typeface="Calibri"/>
              <a:ea typeface="Calibri"/>
              <a:cs typeface="Calibri"/>
              <a:sym typeface="Calibri"/>
            </a:endParaRPr>
          </a:p>
        </p:txBody>
      </p:sp>
      <p:pic>
        <p:nvPicPr>
          <p:cNvPr id="138" name="Google Shape;138;g3af26abed01_0_244"/>
          <p:cNvPicPr preferRelativeResize="0"/>
          <p:nvPr/>
        </p:nvPicPr>
        <p:blipFill rotWithShape="1">
          <a:blip r:embed="rId4">
            <a:alphaModFix/>
          </a:blip>
          <a:srcRect b="0" l="0" r="0" t="0"/>
          <a:stretch/>
        </p:blipFill>
        <p:spPr>
          <a:xfrm>
            <a:off x="648485" y="720825"/>
            <a:ext cx="5871316" cy="1976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af55fae002_0_80"/>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45" name="Google Shape;145;g3af55fae002_0_80"/>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Project Objectives</a:t>
            </a:r>
            <a:endParaRPr b="0" i="0" sz="1400" u="none" cap="none" strike="noStrike">
              <a:solidFill>
                <a:srgbClr val="000000"/>
              </a:solidFill>
              <a:latin typeface="Arial"/>
              <a:ea typeface="Arial"/>
              <a:cs typeface="Arial"/>
              <a:sym typeface="Arial"/>
            </a:endParaRPr>
          </a:p>
        </p:txBody>
      </p:sp>
      <p:sp>
        <p:nvSpPr>
          <p:cNvPr id="146" name="Google Shape;146;g3af55fae002_0_80"/>
          <p:cNvSpPr/>
          <p:nvPr/>
        </p:nvSpPr>
        <p:spPr>
          <a:xfrm>
            <a:off x="0" y="4686300"/>
            <a:ext cx="9144000" cy="457200"/>
          </a:xfrm>
          <a:prstGeom prst="rect">
            <a:avLst/>
          </a:prstGeom>
          <a:solidFill>
            <a:srgbClr val="1A2C64"/>
          </a:solidFill>
          <a:ln>
            <a:noFill/>
          </a:ln>
          <a:effectLst>
            <a:outerShdw blurRad="40000" rotWithShape="0" dir="5400000" dist="23000">
              <a:srgbClr val="808080">
                <a:alpha val="3451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47" name="Google Shape;147;g3af55fae002_0_80"/>
          <p:cNvPicPr preferRelativeResize="0"/>
          <p:nvPr/>
        </p:nvPicPr>
        <p:blipFill rotWithShape="1">
          <a:blip r:embed="rId3">
            <a:alphaModFix/>
          </a:blip>
          <a:srcRect b="0" l="0" r="0" t="0"/>
          <a:stretch/>
        </p:blipFill>
        <p:spPr>
          <a:xfrm>
            <a:off x="7162800" y="4803775"/>
            <a:ext cx="1827213" cy="222250"/>
          </a:xfrm>
          <a:prstGeom prst="rect">
            <a:avLst/>
          </a:prstGeom>
          <a:noFill/>
          <a:ln>
            <a:noFill/>
          </a:ln>
        </p:spPr>
      </p:pic>
      <p:sp>
        <p:nvSpPr>
          <p:cNvPr id="148" name="Google Shape;148;g3af55fae002_0_80"/>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3</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149" name="Google Shape;149;g3af55fae002_0_80"/>
          <p:cNvSpPr txBox="1"/>
          <p:nvPr/>
        </p:nvSpPr>
        <p:spPr>
          <a:xfrm>
            <a:off x="228600" y="868375"/>
            <a:ext cx="4134300" cy="3417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Use ML models to forecast daily rainfall extremes in RS</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Train a VAE to generate synthetic annual maxima</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Build ML-based IDF curves and compare with observed IDFs</a:t>
            </a:r>
            <a:br>
              <a:rPr b="0" i="0" lang="en-US" sz="1800" u="none" cap="none" strike="noStrike">
                <a:solidFill>
                  <a:schemeClr val="dk1"/>
                </a:solidFill>
                <a:latin typeface="Calibri"/>
                <a:ea typeface="Calibri"/>
                <a:cs typeface="Calibri"/>
                <a:sym typeface="Calibri"/>
              </a:rPr>
            </a:br>
            <a:endParaRPr b="0" i="0" sz="1800" u="none" cap="none" strike="noStrike">
              <a:solidFill>
                <a:schemeClr val="dk1"/>
              </a:solidFill>
              <a:latin typeface="Calibri"/>
              <a:ea typeface="Calibri"/>
              <a:cs typeface="Calibri"/>
              <a:sym typeface="Calibri"/>
            </a:endParaRPr>
          </a:p>
          <a:p>
            <a:pPr indent="-285750" lvl="0" marL="285750" marR="0" rtl="0" algn="l">
              <a:lnSpc>
                <a:spcPct val="100000"/>
              </a:lnSpc>
              <a:spcBef>
                <a:spcPts val="0"/>
              </a:spcBef>
              <a:spcAft>
                <a:spcPts val="0"/>
              </a:spcAft>
              <a:buClr>
                <a:schemeClr val="dk1"/>
              </a:buClr>
              <a:buSzPts val="1800"/>
              <a:buFont typeface="Calibri"/>
              <a:buChar char="•"/>
            </a:pPr>
            <a:r>
              <a:rPr b="0" i="0" lang="en-US" sz="1800" u="none" cap="none" strike="noStrike">
                <a:solidFill>
                  <a:schemeClr val="dk1"/>
                </a:solidFill>
                <a:latin typeface="Calibri"/>
                <a:ea typeface="Calibri"/>
                <a:cs typeface="Calibri"/>
                <a:sym typeface="Calibri"/>
              </a:rPr>
              <a:t>Evaluate if ML can support IDF recalibration under recent extremes</a:t>
            </a:r>
            <a:endParaRPr b="0" i="0" sz="11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descr="Beautify this slide" id="155" name="Google Shape;155;g3af55fae002_0_10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Beautify this slide" id="161" name="Google Shape;161;g3af55fae002_0_32"/>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af26abed01_0_80"/>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68" name="Google Shape;168;g3af26abed01_0_80"/>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CHIRPS rainfall over Rio Grande do Sul</a:t>
            </a:r>
            <a:endParaRPr b="0" i="0" sz="1400" u="none" cap="none" strike="noStrike">
              <a:solidFill>
                <a:srgbClr val="000000"/>
              </a:solidFill>
              <a:latin typeface="Arial"/>
              <a:ea typeface="Arial"/>
              <a:cs typeface="Arial"/>
              <a:sym typeface="Arial"/>
            </a:endParaRPr>
          </a:p>
        </p:txBody>
      </p:sp>
      <p:sp>
        <p:nvSpPr>
          <p:cNvPr id="169" name="Google Shape;169;g3af26abed01_0_80"/>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70" name="Google Shape;170;g3af26abed01_0_80"/>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171" name="Google Shape;171;g3af26abed01_0_80"/>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6</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172" name="Google Shape;172;g3af26abed01_0_80"/>
          <p:cNvSpPr txBox="1"/>
          <p:nvPr/>
        </p:nvSpPr>
        <p:spPr>
          <a:xfrm>
            <a:off x="228600" y="1925250"/>
            <a:ext cx="1255200" cy="240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CHIRPS daily rainfall (2000–2024)</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Spatial domain: RS grid</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RS-mean daily time series used for LSTM</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 name="Google Shape;173;g3af26abed01_0_80"/>
          <p:cNvSpPr/>
          <p:nvPr/>
        </p:nvSpPr>
        <p:spPr>
          <a:xfrm>
            <a:off x="228600" y="976975"/>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Data</a:t>
            </a:r>
            <a:endParaRPr b="1" i="0" sz="1400" u="none" cap="none" strike="noStrike">
              <a:solidFill>
                <a:srgbClr val="000000"/>
              </a:solidFill>
              <a:latin typeface="Calibri"/>
              <a:ea typeface="Calibri"/>
              <a:cs typeface="Calibri"/>
              <a:sym typeface="Calibri"/>
            </a:endParaRPr>
          </a:p>
        </p:txBody>
      </p:sp>
      <p:pic>
        <p:nvPicPr>
          <p:cNvPr id="174" name="Google Shape;174;g3af26abed01_0_80" title="download (1).png"/>
          <p:cNvPicPr preferRelativeResize="0"/>
          <p:nvPr/>
        </p:nvPicPr>
        <p:blipFill rotWithShape="1">
          <a:blip r:embed="rId4">
            <a:alphaModFix/>
          </a:blip>
          <a:srcRect b="0" l="0" r="0" t="0"/>
          <a:stretch/>
        </p:blipFill>
        <p:spPr>
          <a:xfrm>
            <a:off x="1634625" y="853450"/>
            <a:ext cx="7355399" cy="310885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f26abed01_0_118"/>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81" name="Google Shape;181;g3af26abed01_0_118"/>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Feature engineering &amp; time split</a:t>
            </a:r>
            <a:endParaRPr b="0" i="0" sz="1400" u="none" cap="none" strike="noStrike">
              <a:solidFill>
                <a:srgbClr val="000000"/>
              </a:solidFill>
              <a:latin typeface="Arial"/>
              <a:ea typeface="Arial"/>
              <a:cs typeface="Arial"/>
              <a:sym typeface="Arial"/>
            </a:endParaRPr>
          </a:p>
        </p:txBody>
      </p:sp>
      <p:sp>
        <p:nvSpPr>
          <p:cNvPr id="182" name="Google Shape;182;g3af26abed01_0_118"/>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83" name="Google Shape;183;g3af26abed01_0_118"/>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184" name="Google Shape;184;g3af26abed01_0_118"/>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6</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185" name="Google Shape;185;g3af26abed01_0_118"/>
          <p:cNvSpPr txBox="1"/>
          <p:nvPr/>
        </p:nvSpPr>
        <p:spPr>
          <a:xfrm>
            <a:off x="228600" y="1925250"/>
            <a:ext cx="1489500" cy="3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Highly </a:t>
            </a:r>
            <a:r>
              <a:rPr b="1" i="0" lang="en-US" sz="1100" u="none" cap="none" strike="noStrike">
                <a:solidFill>
                  <a:schemeClr val="dk1"/>
                </a:solidFill>
                <a:latin typeface="Arial"/>
                <a:ea typeface="Arial"/>
                <a:cs typeface="Arial"/>
                <a:sym typeface="Arial"/>
              </a:rPr>
              <a:t>skewed distribution</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Many dry/low-rain days, few extremes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Difficult target for ML; motivates: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focus on </a:t>
            </a:r>
            <a:r>
              <a:rPr b="1" i="0" lang="en-US" sz="1100" u="none" cap="none" strike="noStrike">
                <a:solidFill>
                  <a:schemeClr val="dk1"/>
                </a:solidFill>
                <a:latin typeface="Arial"/>
                <a:ea typeface="Arial"/>
                <a:cs typeface="Arial"/>
                <a:sym typeface="Arial"/>
              </a:rPr>
              <a:t>extreme tails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sampling strategies for training</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6" name="Google Shape;186;g3af26abed01_0_118"/>
          <p:cNvSpPr/>
          <p:nvPr/>
        </p:nvSpPr>
        <p:spPr>
          <a:xfrm>
            <a:off x="228600" y="976975"/>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Preprocessing</a:t>
            </a:r>
            <a:endParaRPr b="1" i="0" sz="1400" u="none" cap="none" strike="noStrike">
              <a:solidFill>
                <a:srgbClr val="000000"/>
              </a:solidFill>
              <a:latin typeface="Calibri"/>
              <a:ea typeface="Calibri"/>
              <a:cs typeface="Calibri"/>
              <a:sym typeface="Calibri"/>
            </a:endParaRPr>
          </a:p>
        </p:txBody>
      </p:sp>
      <p:pic>
        <p:nvPicPr>
          <p:cNvPr id="187" name="Google Shape;187;g3af26abed01_0_118" title="download.png"/>
          <p:cNvPicPr preferRelativeResize="0"/>
          <p:nvPr/>
        </p:nvPicPr>
        <p:blipFill rotWithShape="1">
          <a:blip r:embed="rId4">
            <a:alphaModFix/>
          </a:blip>
          <a:srcRect b="0" l="0" r="0" t="0"/>
          <a:stretch/>
        </p:blipFill>
        <p:spPr>
          <a:xfrm>
            <a:off x="1634625" y="1738975"/>
            <a:ext cx="7355399" cy="204080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af26abed01_0_103"/>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194" name="Google Shape;194;g3af26abed01_0_103"/>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Feature engineering &amp; time split</a:t>
            </a:r>
            <a:endParaRPr b="0" i="0" sz="1400" u="none" cap="none" strike="noStrike">
              <a:solidFill>
                <a:srgbClr val="000000"/>
              </a:solidFill>
              <a:latin typeface="Arial"/>
              <a:ea typeface="Arial"/>
              <a:cs typeface="Arial"/>
              <a:sym typeface="Arial"/>
            </a:endParaRPr>
          </a:p>
        </p:txBody>
      </p:sp>
      <p:sp>
        <p:nvSpPr>
          <p:cNvPr id="195" name="Google Shape;195;g3af26abed01_0_103"/>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196" name="Google Shape;196;g3af26abed01_0_103"/>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197" name="Google Shape;197;g3af26abed01_0_103"/>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7</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198" name="Google Shape;198;g3af26abed01_0_103"/>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Features</a:t>
            </a:r>
            <a:endParaRPr b="1" i="0" sz="1400" u="none" cap="none" strike="noStrike">
              <a:solidFill>
                <a:srgbClr val="000000"/>
              </a:solidFill>
              <a:latin typeface="Calibri"/>
              <a:ea typeface="Calibri"/>
              <a:cs typeface="Calibri"/>
              <a:sym typeface="Calibri"/>
            </a:endParaRPr>
          </a:p>
        </p:txBody>
      </p:sp>
      <p:sp>
        <p:nvSpPr>
          <p:cNvPr id="199" name="Google Shape;199;g3af26abed01_0_103"/>
          <p:cNvSpPr txBox="1"/>
          <p:nvPr/>
        </p:nvSpPr>
        <p:spPr>
          <a:xfrm>
            <a:off x="228600" y="2425375"/>
            <a:ext cx="2894100" cy="1456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US" sz="1100" u="none" cap="none" strike="noStrike">
                <a:solidFill>
                  <a:schemeClr val="dk1"/>
                </a:solidFill>
                <a:latin typeface="Arial"/>
                <a:ea typeface="Arial"/>
                <a:cs typeface="Arial"/>
                <a:sym typeface="Arial"/>
              </a:rPr>
              <a:t>Features: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Time: year, month, day-of-year</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Spatial: x, y (when grid-based)</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Rolling rainfall: 1, 3, 5, 7-day sums</a:t>
            </a:r>
            <a:endParaRPr b="0" i="0" sz="1100" u="none" cap="none" strike="noStrike">
              <a:solidFill>
                <a:schemeClr val="dk1"/>
              </a:solidFill>
              <a:latin typeface="Arial"/>
              <a:ea typeface="Arial"/>
              <a:cs typeface="Arial"/>
              <a:sym typeface="Arial"/>
            </a:endParaRPr>
          </a:p>
        </p:txBody>
      </p:sp>
      <p:sp>
        <p:nvSpPr>
          <p:cNvPr id="200" name="Google Shape;200;g3af26abed01_0_103"/>
          <p:cNvSpPr txBox="1"/>
          <p:nvPr/>
        </p:nvSpPr>
        <p:spPr>
          <a:xfrm>
            <a:off x="3975025" y="2369825"/>
            <a:ext cx="3268200" cy="1830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Time-based split:</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Train: 2000–2016</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Validation: 2017–2020</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Test: 2021–2024</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Avoids information leakage from future to past</a:t>
            </a:r>
            <a:endParaRPr b="0" i="0" sz="1100" u="none" cap="none" strike="noStrike">
              <a:solidFill>
                <a:schemeClr val="dk1"/>
              </a:solidFill>
              <a:latin typeface="Arial"/>
              <a:ea typeface="Arial"/>
              <a:cs typeface="Arial"/>
              <a:sym typeface="Arial"/>
            </a:endParaRPr>
          </a:p>
        </p:txBody>
      </p:sp>
      <p:pic>
        <p:nvPicPr>
          <p:cNvPr id="201" name="Google Shape;201;g3af26abed01_0_103" title="Code_Generated_Image.png"/>
          <p:cNvPicPr preferRelativeResize="0"/>
          <p:nvPr/>
        </p:nvPicPr>
        <p:blipFill rotWithShape="1">
          <a:blip r:embed="rId4">
            <a:alphaModFix/>
          </a:blip>
          <a:srcRect b="0" l="0" r="0" t="0"/>
          <a:stretch/>
        </p:blipFill>
        <p:spPr>
          <a:xfrm>
            <a:off x="2002750" y="606200"/>
            <a:ext cx="6477700" cy="16194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f26abed01_0_140"/>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08" name="Google Shape;208;g3af26abed01_0_140"/>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Models explored</a:t>
            </a:r>
            <a:endParaRPr b="0" i="0" sz="1400" u="none" cap="none" strike="noStrike">
              <a:solidFill>
                <a:srgbClr val="000000"/>
              </a:solidFill>
              <a:latin typeface="Arial"/>
              <a:ea typeface="Arial"/>
              <a:cs typeface="Arial"/>
              <a:sym typeface="Arial"/>
            </a:endParaRPr>
          </a:p>
        </p:txBody>
      </p:sp>
      <p:sp>
        <p:nvSpPr>
          <p:cNvPr id="209" name="Google Shape;209;g3af26abed01_0_140"/>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10" name="Google Shape;210;g3af26abed01_0_140"/>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11" name="Google Shape;211;g3af26abed01_0_140"/>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8</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12" name="Google Shape;212;g3af26abed01_0_140"/>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Models</a:t>
            </a:r>
            <a:endParaRPr b="1" i="0" sz="1400" u="none" cap="none" strike="noStrike">
              <a:solidFill>
                <a:srgbClr val="000000"/>
              </a:solidFill>
              <a:latin typeface="Calibri"/>
              <a:ea typeface="Calibri"/>
              <a:cs typeface="Calibri"/>
              <a:sym typeface="Calibri"/>
            </a:endParaRPr>
          </a:p>
        </p:txBody>
      </p:sp>
      <p:sp>
        <p:nvSpPr>
          <p:cNvPr id="213" name="Google Shape;213;g3af26abed01_0_140"/>
          <p:cNvSpPr txBox="1"/>
          <p:nvPr/>
        </p:nvSpPr>
        <p:spPr>
          <a:xfrm>
            <a:off x="192500" y="1799950"/>
            <a:ext cx="4418100" cy="24552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Supervised models (daily forecasting):</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Decision Tree (baseline)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Random Forest (RandomizedSearchCV)</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XGBoost (RandomizedSearchCV)</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MLPRegressor</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1" i="0" lang="en-US" sz="1100" u="none" cap="none" strike="noStrike">
                <a:solidFill>
                  <a:schemeClr val="dk1"/>
                </a:solidFill>
                <a:latin typeface="Arial"/>
                <a:ea typeface="Arial"/>
                <a:cs typeface="Arial"/>
                <a:sym typeface="Arial"/>
              </a:rPr>
              <a:t>LSTM_point</a:t>
            </a:r>
            <a:r>
              <a:rPr b="0" i="0" lang="en-US" sz="1100" u="none" cap="none" strike="noStrike">
                <a:solidFill>
                  <a:schemeClr val="dk1"/>
                </a:solidFill>
                <a:latin typeface="Arial"/>
                <a:ea typeface="Arial"/>
                <a:cs typeface="Arial"/>
                <a:sym typeface="Arial"/>
              </a:rPr>
              <a:t> (30-day RS-mean window → next day)</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p:txBody>
      </p:sp>
      <p:sp>
        <p:nvSpPr>
          <p:cNvPr id="214" name="Google Shape;214;g3af26abed01_0_140"/>
          <p:cNvSpPr txBox="1"/>
          <p:nvPr/>
        </p:nvSpPr>
        <p:spPr>
          <a:xfrm>
            <a:off x="4610600" y="1799950"/>
            <a:ext cx="3000000" cy="897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Generative model (extremes):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Variational Autoencoder (VAE) on annual maxima</a:t>
            </a:r>
            <a:endParaRPr b="0" i="0" sz="11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af26abed01_0_156"/>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21" name="Google Shape;221;g3af26abed01_0_156"/>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Model comparison (test RMSE / R²)</a:t>
            </a:r>
            <a:endParaRPr b="0" i="0" sz="1400" u="none" cap="none" strike="noStrike">
              <a:solidFill>
                <a:srgbClr val="000000"/>
              </a:solidFill>
              <a:latin typeface="Arial"/>
              <a:ea typeface="Arial"/>
              <a:cs typeface="Arial"/>
              <a:sym typeface="Arial"/>
            </a:endParaRPr>
          </a:p>
        </p:txBody>
      </p:sp>
      <p:sp>
        <p:nvSpPr>
          <p:cNvPr id="222" name="Google Shape;222;g3af26abed01_0_156"/>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23" name="Google Shape;223;g3af26abed01_0_156"/>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24" name="Google Shape;224;g3af26abed01_0_156"/>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9</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25" name="Google Shape;225;g3af26abed01_0_156"/>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Evaluation</a:t>
            </a:r>
            <a:endParaRPr b="1" i="0" sz="1400" u="none" cap="none" strike="noStrike">
              <a:solidFill>
                <a:srgbClr val="000000"/>
              </a:solidFill>
              <a:latin typeface="Calibri"/>
              <a:ea typeface="Calibri"/>
              <a:cs typeface="Calibri"/>
              <a:sym typeface="Calibri"/>
            </a:endParaRPr>
          </a:p>
        </p:txBody>
      </p:sp>
      <p:sp>
        <p:nvSpPr>
          <p:cNvPr id="226" name="Google Shape;226;g3af26abed01_0_156"/>
          <p:cNvSpPr txBox="1"/>
          <p:nvPr/>
        </p:nvSpPr>
        <p:spPr>
          <a:xfrm>
            <a:off x="192500" y="1799950"/>
            <a:ext cx="4418100" cy="1870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LSTM shows </a:t>
            </a:r>
            <a:r>
              <a:rPr b="1" i="0" lang="en-US" sz="1100" u="none" cap="none" strike="noStrike">
                <a:solidFill>
                  <a:schemeClr val="dk1"/>
                </a:solidFill>
                <a:latin typeface="Arial"/>
                <a:ea typeface="Arial"/>
                <a:cs typeface="Arial"/>
                <a:sym typeface="Arial"/>
              </a:rPr>
              <a:t>lower test RMSE</a:t>
            </a:r>
            <a:r>
              <a:rPr b="0" i="0" lang="en-US" sz="1100" u="none" cap="none" strike="noStrike">
                <a:solidFill>
                  <a:schemeClr val="dk1"/>
                </a:solidFill>
                <a:latin typeface="Arial"/>
                <a:ea typeface="Arial"/>
                <a:cs typeface="Arial"/>
                <a:sym typeface="Arial"/>
              </a:rPr>
              <a:t> on the RS-mean series</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Tree / RF / XGB / MLP are all in a similar RMSE and R² range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Overall R² close to zero on the full grid → ML learns mainly climatology, not event-to-event extremes</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pic>
        <p:nvPicPr>
          <p:cNvPr id="227" name="Google Shape;227;g3af26abed01_0_156" title="Code_Generated_Image (1).png"/>
          <p:cNvPicPr preferRelativeResize="0"/>
          <p:nvPr/>
        </p:nvPicPr>
        <p:blipFill rotWithShape="1">
          <a:blip r:embed="rId4">
            <a:alphaModFix/>
          </a:blip>
          <a:srcRect b="0" l="0" r="0" t="0"/>
          <a:stretch/>
        </p:blipFill>
        <p:spPr>
          <a:xfrm>
            <a:off x="4834725" y="569223"/>
            <a:ext cx="4228600" cy="2642875"/>
          </a:xfrm>
          <a:prstGeom prst="rect">
            <a:avLst/>
          </a:prstGeom>
          <a:noFill/>
          <a:ln>
            <a:noFill/>
          </a:ln>
        </p:spPr>
      </p:pic>
      <p:pic>
        <p:nvPicPr>
          <p:cNvPr id="228" name="Google Shape;228;g3af26abed01_0_156"/>
          <p:cNvPicPr preferRelativeResize="0"/>
          <p:nvPr/>
        </p:nvPicPr>
        <p:blipFill>
          <a:blip r:embed="rId5">
            <a:alphaModFix/>
          </a:blip>
          <a:stretch>
            <a:fillRect/>
          </a:stretch>
        </p:blipFill>
        <p:spPr>
          <a:xfrm>
            <a:off x="5023759" y="3072259"/>
            <a:ext cx="3966266" cy="1496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af26abed01_0_174"/>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35" name="Google Shape;235;g3af26abed01_0_174"/>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LSTM – test time series (RS-mean)</a:t>
            </a:r>
            <a:endParaRPr b="0" i="0" sz="1400" u="none" cap="none" strike="noStrike">
              <a:solidFill>
                <a:srgbClr val="000000"/>
              </a:solidFill>
              <a:latin typeface="Arial"/>
              <a:ea typeface="Arial"/>
              <a:cs typeface="Arial"/>
              <a:sym typeface="Arial"/>
            </a:endParaRPr>
          </a:p>
        </p:txBody>
      </p:sp>
      <p:sp>
        <p:nvSpPr>
          <p:cNvPr id="236" name="Google Shape;236;g3af26abed01_0_174"/>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37" name="Google Shape;237;g3af26abed01_0_174"/>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38" name="Google Shape;238;g3af26abed01_0_174"/>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10</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39" name="Google Shape;239;g3af26abed01_0_174"/>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Evaluation</a:t>
            </a:r>
            <a:endParaRPr b="1" i="0" sz="1400" u="none" cap="none" strike="noStrike">
              <a:solidFill>
                <a:srgbClr val="000000"/>
              </a:solidFill>
              <a:latin typeface="Calibri"/>
              <a:ea typeface="Calibri"/>
              <a:cs typeface="Calibri"/>
              <a:sym typeface="Calibri"/>
            </a:endParaRPr>
          </a:p>
        </p:txBody>
      </p:sp>
      <p:sp>
        <p:nvSpPr>
          <p:cNvPr id="240" name="Google Shape;240;g3af26abed01_0_174"/>
          <p:cNvSpPr txBox="1"/>
          <p:nvPr/>
        </p:nvSpPr>
        <p:spPr>
          <a:xfrm>
            <a:off x="192500" y="1799950"/>
            <a:ext cx="4418100" cy="16761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LSTM captures timing and magnitude of </a:t>
            </a:r>
            <a:r>
              <a:rPr b="1" i="0" lang="en-US" sz="1100" u="none" cap="none" strike="noStrike">
                <a:solidFill>
                  <a:schemeClr val="dk1"/>
                </a:solidFill>
                <a:latin typeface="Arial"/>
                <a:ea typeface="Arial"/>
                <a:cs typeface="Arial"/>
                <a:sym typeface="Arial"/>
              </a:rPr>
              <a:t>typical rainy periods</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Good at </a:t>
            </a:r>
            <a:r>
              <a:rPr b="1" i="0" lang="en-US" sz="1100" u="none" cap="none" strike="noStrike">
                <a:solidFill>
                  <a:schemeClr val="dk1"/>
                </a:solidFill>
                <a:latin typeface="Arial"/>
                <a:ea typeface="Arial"/>
                <a:cs typeface="Arial"/>
                <a:sym typeface="Arial"/>
              </a:rPr>
              <a:t>average behaviour</a:t>
            </a:r>
            <a:br>
              <a:rPr b="1" i="0" lang="en-US" sz="1100" u="none" cap="none" strike="noStrike">
                <a:solidFill>
                  <a:schemeClr val="dk1"/>
                </a:solidFill>
                <a:latin typeface="Arial"/>
                <a:ea typeface="Arial"/>
                <a:cs typeface="Arial"/>
                <a:sym typeface="Arial"/>
              </a:rPr>
            </a:b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Still </a:t>
            </a:r>
            <a:r>
              <a:rPr b="1" i="0" lang="en-US" sz="1100" u="none" cap="none" strike="noStrike">
                <a:solidFill>
                  <a:schemeClr val="dk1"/>
                </a:solidFill>
                <a:latin typeface="Arial"/>
                <a:ea typeface="Arial"/>
                <a:cs typeface="Arial"/>
                <a:sym typeface="Arial"/>
              </a:rPr>
              <a:t>underestimates most extreme peaks</a:t>
            </a:r>
            <a:endParaRPr b="0" i="0" sz="1100" u="none" cap="none" strike="noStrike">
              <a:solidFill>
                <a:schemeClr val="dk1"/>
              </a:solidFill>
              <a:latin typeface="Arial"/>
              <a:ea typeface="Arial"/>
              <a:cs typeface="Arial"/>
              <a:sym typeface="Arial"/>
            </a:endParaRPr>
          </a:p>
          <a:p>
            <a:pPr indent="0" lvl="0" marL="457200" marR="0" rtl="0" algn="l">
              <a:lnSpc>
                <a:spcPct val="115000"/>
              </a:lnSpc>
              <a:spcBef>
                <a:spcPts val="1200"/>
              </a:spcBef>
              <a:spcAft>
                <a:spcPts val="120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p:txBody>
      </p:sp>
      <p:pic>
        <p:nvPicPr>
          <p:cNvPr id="241" name="Google Shape;241;g3af26abed01_0_174" title="Code_Generated_Image (2).png"/>
          <p:cNvPicPr preferRelativeResize="0"/>
          <p:nvPr/>
        </p:nvPicPr>
        <p:blipFill rotWithShape="1">
          <a:blip r:embed="rId4">
            <a:alphaModFix/>
          </a:blip>
          <a:srcRect b="0" l="0" r="0" t="0"/>
          <a:stretch/>
        </p:blipFill>
        <p:spPr>
          <a:xfrm>
            <a:off x="4390662" y="1620650"/>
            <a:ext cx="4484413" cy="17937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f26abed01_0_189"/>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48" name="Google Shape;248;g3af26abed01_0_189"/>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LSTM: observed vs predicted scatter</a:t>
            </a:r>
            <a:endParaRPr b="0" i="0" sz="1400" u="none" cap="none" strike="noStrike">
              <a:solidFill>
                <a:srgbClr val="000000"/>
              </a:solidFill>
              <a:latin typeface="Arial"/>
              <a:ea typeface="Arial"/>
              <a:cs typeface="Arial"/>
              <a:sym typeface="Arial"/>
            </a:endParaRPr>
          </a:p>
        </p:txBody>
      </p:sp>
      <p:sp>
        <p:nvSpPr>
          <p:cNvPr id="249" name="Google Shape;249;g3af26abed01_0_189"/>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50" name="Google Shape;250;g3af26abed01_0_189"/>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51" name="Google Shape;251;g3af26abed01_0_189"/>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11</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52" name="Google Shape;252;g3af26abed01_0_189"/>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Evaluation</a:t>
            </a:r>
            <a:endParaRPr b="1" i="0" sz="1400" u="none" cap="none" strike="noStrike">
              <a:solidFill>
                <a:srgbClr val="000000"/>
              </a:solidFill>
              <a:latin typeface="Calibri"/>
              <a:ea typeface="Calibri"/>
              <a:cs typeface="Calibri"/>
              <a:sym typeface="Calibri"/>
            </a:endParaRPr>
          </a:p>
        </p:txBody>
      </p:sp>
      <p:sp>
        <p:nvSpPr>
          <p:cNvPr id="253" name="Google Shape;253;g3af26abed01_0_189"/>
          <p:cNvSpPr txBox="1"/>
          <p:nvPr/>
        </p:nvSpPr>
        <p:spPr>
          <a:xfrm>
            <a:off x="192500" y="1799950"/>
            <a:ext cx="4418100" cy="13275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Near-diagonal for low to moderate rainfall</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Systematic </a:t>
            </a:r>
            <a:r>
              <a:rPr b="1" i="0" lang="en-US" sz="1100" u="none" cap="none" strike="noStrike">
                <a:solidFill>
                  <a:schemeClr val="dk1"/>
                </a:solidFill>
                <a:latin typeface="Arial"/>
                <a:ea typeface="Arial"/>
                <a:cs typeface="Arial"/>
                <a:sym typeface="Arial"/>
              </a:rPr>
              <a:t>underestimation</a:t>
            </a:r>
            <a:r>
              <a:rPr b="0" i="0" lang="en-US" sz="1100" u="none" cap="none" strike="noStrike">
                <a:solidFill>
                  <a:schemeClr val="dk1"/>
                </a:solidFill>
                <a:latin typeface="Arial"/>
                <a:ea typeface="Arial"/>
                <a:cs typeface="Arial"/>
                <a:sym typeface="Arial"/>
              </a:rPr>
              <a:t> for high rainfall</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Explains why ML-based IDF curves still sit below the most extreme observations</a:t>
            </a:r>
            <a:endParaRPr b="0" i="0" sz="1100" u="none" cap="none" strike="noStrike">
              <a:solidFill>
                <a:schemeClr val="dk1"/>
              </a:solidFill>
              <a:latin typeface="Arial"/>
              <a:ea typeface="Arial"/>
              <a:cs typeface="Arial"/>
              <a:sym typeface="Arial"/>
            </a:endParaRPr>
          </a:p>
        </p:txBody>
      </p:sp>
      <p:pic>
        <p:nvPicPr>
          <p:cNvPr id="254" name="Google Shape;254;g3af26abed01_0_189" title="Code_Generated_Image (3).png"/>
          <p:cNvPicPr preferRelativeResize="0"/>
          <p:nvPr/>
        </p:nvPicPr>
        <p:blipFill rotWithShape="1">
          <a:blip r:embed="rId4">
            <a:alphaModFix/>
          </a:blip>
          <a:srcRect b="0" l="0" r="0" t="0"/>
          <a:stretch/>
        </p:blipFill>
        <p:spPr>
          <a:xfrm>
            <a:off x="4763000" y="503950"/>
            <a:ext cx="3919500" cy="3919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3af26abed01_0_204"/>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61" name="Google Shape;261;g3af26abed01_0_204"/>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VAE: annual maxima</a:t>
            </a:r>
            <a:endParaRPr b="0" i="0" sz="1400" u="none" cap="none" strike="noStrike">
              <a:solidFill>
                <a:srgbClr val="000000"/>
              </a:solidFill>
              <a:latin typeface="Arial"/>
              <a:ea typeface="Arial"/>
              <a:cs typeface="Arial"/>
              <a:sym typeface="Arial"/>
            </a:endParaRPr>
          </a:p>
        </p:txBody>
      </p:sp>
      <p:sp>
        <p:nvSpPr>
          <p:cNvPr id="262" name="Google Shape;262;g3af26abed01_0_204"/>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63" name="Google Shape;263;g3af26abed01_0_204"/>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64" name="Google Shape;264;g3af26abed01_0_204"/>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12</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65" name="Google Shape;265;g3af26abed01_0_204"/>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VAE</a:t>
            </a:r>
            <a:endParaRPr b="1" i="0" sz="1400" u="none" cap="none" strike="noStrike">
              <a:solidFill>
                <a:srgbClr val="000000"/>
              </a:solidFill>
              <a:latin typeface="Calibri"/>
              <a:ea typeface="Calibri"/>
              <a:cs typeface="Calibri"/>
              <a:sym typeface="Calibri"/>
            </a:endParaRPr>
          </a:p>
        </p:txBody>
      </p:sp>
      <p:sp>
        <p:nvSpPr>
          <p:cNvPr id="266" name="Google Shape;266;g3af26abed01_0_204"/>
          <p:cNvSpPr txBox="1"/>
          <p:nvPr/>
        </p:nvSpPr>
        <p:spPr>
          <a:xfrm>
            <a:off x="192500" y="1799950"/>
            <a:ext cx="4418100" cy="11328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VAE trained on annual maximum daily rainfall</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Learns a </a:t>
            </a:r>
            <a:r>
              <a:rPr b="1" i="0" lang="en-US" sz="1100" u="none" cap="none" strike="noStrike">
                <a:solidFill>
                  <a:schemeClr val="dk1"/>
                </a:solidFill>
                <a:latin typeface="Arial"/>
                <a:ea typeface="Arial"/>
                <a:cs typeface="Arial"/>
                <a:sym typeface="Arial"/>
              </a:rPr>
              <a:t>latent space</a:t>
            </a:r>
            <a:r>
              <a:rPr b="0" i="0" lang="en-US" sz="1100" u="none" cap="none" strike="noStrike">
                <a:solidFill>
                  <a:schemeClr val="dk1"/>
                </a:solidFill>
                <a:latin typeface="Arial"/>
                <a:ea typeface="Arial"/>
                <a:cs typeface="Arial"/>
                <a:sym typeface="Arial"/>
              </a:rPr>
              <a:t> of extremes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Generated maxima have:</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Similar overall shape</a:t>
            </a:r>
            <a:br>
              <a:rPr b="0" i="0" lang="en-US" sz="1100" u="none" cap="none" strike="noStrike">
                <a:solidFill>
                  <a:schemeClr val="dk1"/>
                </a:solidFill>
                <a:latin typeface="Arial"/>
                <a:ea typeface="Arial"/>
                <a:cs typeface="Arial"/>
                <a:sym typeface="Arial"/>
              </a:rPr>
            </a:br>
            <a:r>
              <a:rPr b="0" i="0" lang="en-US" sz="1100" u="none" cap="none" strike="noStrike">
                <a:solidFill>
                  <a:schemeClr val="dk1"/>
                </a:solidFill>
                <a:latin typeface="Arial"/>
                <a:ea typeface="Arial"/>
                <a:cs typeface="Arial"/>
                <a:sym typeface="Arial"/>
              </a:rPr>
              <a:t>- But </a:t>
            </a:r>
            <a:r>
              <a:rPr b="1" i="0" lang="en-US" sz="1100" u="none" cap="none" strike="noStrike">
                <a:solidFill>
                  <a:schemeClr val="dk1"/>
                </a:solidFill>
                <a:latin typeface="Arial"/>
                <a:ea typeface="Arial"/>
                <a:cs typeface="Arial"/>
                <a:sym typeface="Arial"/>
              </a:rPr>
              <a:t>less heavy tails</a:t>
            </a:r>
            <a:r>
              <a:rPr b="0" i="0" lang="en-US" sz="1100" u="none" cap="none" strike="noStrike">
                <a:solidFill>
                  <a:schemeClr val="dk1"/>
                </a:solidFill>
                <a:latin typeface="Arial"/>
                <a:ea typeface="Arial"/>
                <a:cs typeface="Arial"/>
                <a:sym typeface="Arial"/>
              </a:rPr>
              <a:t> than observed</a:t>
            </a:r>
            <a:endParaRPr b="0" i="0" sz="1100" u="none" cap="none" strike="noStrike">
              <a:solidFill>
                <a:schemeClr val="dk1"/>
              </a:solidFill>
              <a:latin typeface="Arial"/>
              <a:ea typeface="Arial"/>
              <a:cs typeface="Arial"/>
              <a:sym typeface="Arial"/>
            </a:endParaRPr>
          </a:p>
        </p:txBody>
      </p:sp>
      <p:pic>
        <p:nvPicPr>
          <p:cNvPr id="267" name="Google Shape;267;g3af26abed01_0_204" title="Code_Generated_Image (4).png"/>
          <p:cNvPicPr preferRelativeResize="0"/>
          <p:nvPr/>
        </p:nvPicPr>
        <p:blipFill rotWithShape="1">
          <a:blip r:embed="rId4">
            <a:alphaModFix/>
          </a:blip>
          <a:srcRect b="0" l="0" r="0" t="0"/>
          <a:stretch/>
        </p:blipFill>
        <p:spPr>
          <a:xfrm>
            <a:off x="4090650" y="1252700"/>
            <a:ext cx="4228600" cy="26428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af26abed01_0_218"/>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74" name="Google Shape;274;g3af26abed01_0_218"/>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IDF curves: Observed vs ML-based IDF curves (1–7 days)</a:t>
            </a:r>
            <a:endParaRPr b="0" i="0" sz="1400" u="none" cap="none" strike="noStrike">
              <a:solidFill>
                <a:srgbClr val="000000"/>
              </a:solidFill>
              <a:latin typeface="Arial"/>
              <a:ea typeface="Arial"/>
              <a:cs typeface="Arial"/>
              <a:sym typeface="Arial"/>
            </a:endParaRPr>
          </a:p>
        </p:txBody>
      </p:sp>
      <p:sp>
        <p:nvSpPr>
          <p:cNvPr id="275" name="Google Shape;275;g3af26abed01_0_218"/>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76" name="Google Shape;276;g3af26abed01_0_218"/>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77" name="Google Shape;277;g3af26abed01_0_218"/>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13</a:t>
            </a:r>
            <a:r>
              <a:rPr b="1" i="0" lang="en-US" sz="1200" u="none" cap="none" strike="noStrike">
                <a:solidFill>
                  <a:schemeClr val="lt1"/>
                </a:solidFill>
                <a:latin typeface="Calibri"/>
                <a:ea typeface="Calibri"/>
                <a:cs typeface="Calibri"/>
                <a:sym typeface="Calibri"/>
              </a:rPr>
              <a:t> | Brazil Extreme Rainfall Intensity Forecaster</a:t>
            </a:r>
            <a:endParaRPr b="1" i="0" sz="1200" u="none" cap="none" strike="noStrike">
              <a:solidFill>
                <a:schemeClr val="lt1"/>
              </a:solidFill>
              <a:latin typeface="Calibri"/>
              <a:ea typeface="Calibri"/>
              <a:cs typeface="Calibri"/>
              <a:sym typeface="Calibri"/>
            </a:endParaRPr>
          </a:p>
        </p:txBody>
      </p:sp>
      <p:sp>
        <p:nvSpPr>
          <p:cNvPr id="278" name="Google Shape;278;g3af26abed01_0_218"/>
          <p:cNvSpPr/>
          <p:nvPr/>
        </p:nvSpPr>
        <p:spPr>
          <a:xfrm>
            <a:off x="192488" y="858638"/>
            <a:ext cx="1255200" cy="7620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Calibri"/>
                <a:ea typeface="Calibri"/>
                <a:cs typeface="Calibri"/>
                <a:sym typeface="Calibri"/>
              </a:rPr>
              <a:t>IDF</a:t>
            </a:r>
            <a:endParaRPr b="1" i="0" sz="1400" u="none" cap="none" strike="noStrike">
              <a:solidFill>
                <a:srgbClr val="000000"/>
              </a:solidFill>
              <a:latin typeface="Calibri"/>
              <a:ea typeface="Calibri"/>
              <a:cs typeface="Calibri"/>
              <a:sym typeface="Calibri"/>
            </a:endParaRPr>
          </a:p>
        </p:txBody>
      </p:sp>
      <p:sp>
        <p:nvSpPr>
          <p:cNvPr id="279" name="Google Shape;279;g3af26abed01_0_218"/>
          <p:cNvSpPr txBox="1"/>
          <p:nvPr/>
        </p:nvSpPr>
        <p:spPr>
          <a:xfrm>
            <a:off x="192500" y="1799950"/>
            <a:ext cx="4418100" cy="17484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Observed IDF curves from CHIRPS (2000–2024)</a:t>
            </a:r>
            <a:endParaRPr b="0" i="0" sz="1100" u="none" cap="none" strike="noStrike">
              <a:solidFill>
                <a:schemeClr val="dk1"/>
              </a:solidFill>
              <a:latin typeface="Arial"/>
              <a:ea typeface="Arial"/>
              <a:cs typeface="Arial"/>
              <a:sym typeface="Arial"/>
            </a:endParaRPr>
          </a:p>
          <a:p>
            <a:pPr indent="-228600" lvl="0" marL="45720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ML-based IDF curves:</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derived from LSTM and/or VAE maxima</a:t>
            </a:r>
            <a:endParaRPr b="0" i="0" sz="1100" u="none" cap="none" strike="noStrike">
              <a:solidFill>
                <a:schemeClr val="dk1"/>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100"/>
              <a:buFont typeface="Arial"/>
              <a:buNone/>
            </a:pPr>
            <a:r>
              <a:rPr b="0" i="0" lang="en-US" sz="1100" u="none" cap="none" strike="noStrike">
                <a:solidFill>
                  <a:schemeClr val="dk1"/>
                </a:solidFill>
                <a:latin typeface="Arial"/>
                <a:ea typeface="Arial"/>
                <a:cs typeface="Arial"/>
                <a:sym typeface="Arial"/>
              </a:rPr>
              <a:t>May 2024 flood:</a:t>
            </a: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lies </a:t>
            </a:r>
            <a:r>
              <a:rPr b="1" i="0" lang="en-US" sz="1100" u="none" cap="none" strike="noStrike">
                <a:solidFill>
                  <a:schemeClr val="dk1"/>
                </a:solidFill>
                <a:latin typeface="Arial"/>
                <a:ea typeface="Arial"/>
                <a:cs typeface="Arial"/>
                <a:sym typeface="Arial"/>
              </a:rPr>
              <a:t>above</a:t>
            </a:r>
            <a:r>
              <a:rPr b="0" i="0" lang="en-US" sz="1100" u="none" cap="none" strike="noStrike">
                <a:solidFill>
                  <a:schemeClr val="dk1"/>
                </a:solidFill>
                <a:latin typeface="Arial"/>
                <a:ea typeface="Arial"/>
                <a:cs typeface="Arial"/>
                <a:sym typeface="Arial"/>
              </a:rPr>
              <a:t> both observed and ML-based curves</a:t>
            </a:r>
            <a:endParaRPr b="0" i="0" sz="1100" u="none" cap="none" strike="noStrike">
              <a:solidFill>
                <a:schemeClr val="dk1"/>
              </a:solidFill>
              <a:latin typeface="Arial"/>
              <a:ea typeface="Arial"/>
              <a:cs typeface="Arial"/>
              <a:sym typeface="Arial"/>
            </a:endParaRPr>
          </a:p>
        </p:txBody>
      </p:sp>
      <p:pic>
        <p:nvPicPr>
          <p:cNvPr id="280" name="Google Shape;280;g3af26abed01_0_218" title="Code_Generated_Image (5).png"/>
          <p:cNvPicPr preferRelativeResize="0"/>
          <p:nvPr/>
        </p:nvPicPr>
        <p:blipFill rotWithShape="1">
          <a:blip r:embed="rId4">
            <a:alphaModFix/>
          </a:blip>
          <a:srcRect b="0" l="0" r="0" t="0"/>
          <a:stretch/>
        </p:blipFill>
        <p:spPr>
          <a:xfrm>
            <a:off x="4419350" y="974613"/>
            <a:ext cx="4228600" cy="296002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3af26abed01_0_233"/>
          <p:cNvSpPr/>
          <p:nvPr/>
        </p:nvSpPr>
        <p:spPr>
          <a:xfrm>
            <a:off x="0" y="0"/>
            <a:ext cx="9144000" cy="4572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sp>
        <p:nvSpPr>
          <p:cNvPr id="287" name="Google Shape;287;g3af26abed01_0_233"/>
          <p:cNvSpPr/>
          <p:nvPr/>
        </p:nvSpPr>
        <p:spPr>
          <a:xfrm>
            <a:off x="228600" y="0"/>
            <a:ext cx="8915400" cy="4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0" i="0" lang="en-US" sz="2400" u="none" cap="none" strike="noStrike">
                <a:solidFill>
                  <a:schemeClr val="lt1"/>
                </a:solidFill>
                <a:latin typeface="Calibri"/>
                <a:ea typeface="Calibri"/>
                <a:cs typeface="Calibri"/>
                <a:sym typeface="Calibri"/>
              </a:rPr>
              <a:t>Can ML help us understand and recalibrate rainfall extremes?</a:t>
            </a:r>
            <a:endParaRPr b="0" i="0" sz="1400" u="none" cap="none" strike="noStrike">
              <a:solidFill>
                <a:srgbClr val="000000"/>
              </a:solidFill>
              <a:latin typeface="Arial"/>
              <a:ea typeface="Arial"/>
              <a:cs typeface="Arial"/>
              <a:sym typeface="Arial"/>
            </a:endParaRPr>
          </a:p>
        </p:txBody>
      </p:sp>
      <p:sp>
        <p:nvSpPr>
          <p:cNvPr id="288" name="Google Shape;288;g3af26abed01_0_233"/>
          <p:cNvSpPr/>
          <p:nvPr/>
        </p:nvSpPr>
        <p:spPr>
          <a:xfrm>
            <a:off x="0" y="4686300"/>
            <a:ext cx="9144000" cy="457200"/>
          </a:xfrm>
          <a:prstGeom prst="rect">
            <a:avLst/>
          </a:prstGeom>
          <a:solidFill>
            <a:srgbClr val="1A2C64"/>
          </a:solidFill>
          <a:ln>
            <a:noFill/>
          </a:ln>
          <a:effectLst>
            <a:outerShdw blurRad="40000" rotWithShape="0" dir="5400000" dist="23000">
              <a:srgbClr val="808080">
                <a:alpha val="3450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E5B8B7"/>
              </a:solidFill>
              <a:latin typeface="Calibri"/>
              <a:ea typeface="Calibri"/>
              <a:cs typeface="Calibri"/>
              <a:sym typeface="Calibri"/>
            </a:endParaRPr>
          </a:p>
        </p:txBody>
      </p:sp>
      <p:pic>
        <p:nvPicPr>
          <p:cNvPr id="289" name="Google Shape;289;g3af26abed01_0_233"/>
          <p:cNvPicPr preferRelativeResize="0"/>
          <p:nvPr/>
        </p:nvPicPr>
        <p:blipFill rotWithShape="1">
          <a:blip r:embed="rId3">
            <a:alphaModFix/>
          </a:blip>
          <a:srcRect b="0" l="0" r="0" t="0"/>
          <a:stretch/>
        </p:blipFill>
        <p:spPr>
          <a:xfrm>
            <a:off x="7162800" y="4803775"/>
            <a:ext cx="1827214" cy="222250"/>
          </a:xfrm>
          <a:prstGeom prst="rect">
            <a:avLst/>
          </a:prstGeom>
          <a:noFill/>
          <a:ln>
            <a:noFill/>
          </a:ln>
        </p:spPr>
      </p:pic>
      <p:sp>
        <p:nvSpPr>
          <p:cNvPr id="290" name="Google Shape;290;g3af26abed01_0_233"/>
          <p:cNvSpPr txBox="1"/>
          <p:nvPr/>
        </p:nvSpPr>
        <p:spPr>
          <a:xfrm>
            <a:off x="132713" y="4776438"/>
            <a:ext cx="6781800" cy="276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lt1"/>
              </a:buClr>
              <a:buSzPts val="1200"/>
              <a:buFont typeface="Arial"/>
              <a:buNone/>
            </a:pPr>
            <a:r>
              <a:rPr b="1" lang="en-US" sz="1200">
                <a:solidFill>
                  <a:schemeClr val="lt1"/>
                </a:solidFill>
                <a:latin typeface="Calibri"/>
                <a:ea typeface="Calibri"/>
                <a:cs typeface="Calibri"/>
                <a:sym typeface="Calibri"/>
              </a:rPr>
              <a:t>1</a:t>
            </a:r>
            <a:r>
              <a:rPr b="1" i="0" lang="en-US" sz="1200" u="none" cap="none" strike="noStrike">
                <a:solidFill>
                  <a:schemeClr val="lt1"/>
                </a:solidFill>
                <a:latin typeface="Calibri"/>
                <a:ea typeface="Calibri"/>
                <a:cs typeface="Calibri"/>
                <a:sym typeface="Calibri"/>
              </a:rPr>
              <a:t>4 | Brazil Extreme Rainfall Intensity Forecaster</a:t>
            </a:r>
            <a:endParaRPr b="1" i="0" sz="1200" u="none" cap="none" strike="noStrike">
              <a:solidFill>
                <a:schemeClr val="lt1"/>
              </a:solidFill>
              <a:latin typeface="Calibri"/>
              <a:ea typeface="Calibri"/>
              <a:cs typeface="Calibri"/>
              <a:sym typeface="Calibri"/>
            </a:endParaRPr>
          </a:p>
        </p:txBody>
      </p:sp>
      <p:sp>
        <p:nvSpPr>
          <p:cNvPr id="291" name="Google Shape;291;g3af26abed01_0_233"/>
          <p:cNvSpPr txBox="1"/>
          <p:nvPr/>
        </p:nvSpPr>
        <p:spPr>
          <a:xfrm>
            <a:off x="228600" y="635938"/>
            <a:ext cx="4418100" cy="14814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120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Understanding:</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Yes, partially.</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LSTM and VAE highlight how much of the variability we can learn and where we systematically </a:t>
            </a:r>
            <a:r>
              <a:rPr b="1" i="0" lang="en-US" sz="1100" u="none" cap="none" strike="noStrike">
                <a:solidFill>
                  <a:schemeClr val="dk1"/>
                </a:solidFill>
                <a:latin typeface="Arial"/>
                <a:ea typeface="Arial"/>
                <a:cs typeface="Arial"/>
                <a:sym typeface="Arial"/>
              </a:rPr>
              <a:t>underestimate extremes</a:t>
            </a:r>
            <a:r>
              <a:rPr b="0" i="0" lang="en-US" sz="1100" u="none" cap="none" strike="noStrike">
                <a:solidFill>
                  <a:schemeClr val="dk1"/>
                </a:solidFill>
                <a:latin typeface="Arial"/>
                <a:ea typeface="Arial"/>
                <a:cs typeface="Arial"/>
                <a:sym typeface="Arial"/>
              </a:rPr>
              <a:t>.</a:t>
            </a:r>
            <a:endParaRPr b="0" i="0" sz="1100" u="none" cap="none" strike="noStrike">
              <a:solidFill>
                <a:schemeClr val="dk1"/>
              </a:solidFill>
              <a:latin typeface="Arial"/>
              <a:ea typeface="Arial"/>
              <a:cs typeface="Arial"/>
              <a:sym typeface="Arial"/>
            </a:endParaRPr>
          </a:p>
        </p:txBody>
      </p:sp>
      <p:sp>
        <p:nvSpPr>
          <p:cNvPr id="292" name="Google Shape;292;g3af26abed01_0_233"/>
          <p:cNvSpPr txBox="1"/>
          <p:nvPr/>
        </p:nvSpPr>
        <p:spPr>
          <a:xfrm>
            <a:off x="5184600" y="641525"/>
            <a:ext cx="3000000" cy="1722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100"/>
              <a:buFont typeface="Arial"/>
              <a:buNone/>
            </a:pPr>
            <a:r>
              <a:rPr b="1" i="0" lang="en-US" sz="1100" u="none" cap="none" strike="noStrike">
                <a:solidFill>
                  <a:schemeClr val="dk1"/>
                </a:solidFill>
                <a:latin typeface="Arial"/>
                <a:ea typeface="Arial"/>
                <a:cs typeface="Arial"/>
                <a:sym typeface="Arial"/>
              </a:rPr>
              <a:t>Recalibrating IDF curves:</a:t>
            </a:r>
            <a:endParaRPr b="1" i="0" sz="1100" u="none" cap="none" strike="noStrike">
              <a:solidFill>
                <a:schemeClr val="dk1"/>
              </a:solidFill>
              <a:latin typeface="Arial"/>
              <a:ea typeface="Arial"/>
              <a:cs typeface="Arial"/>
              <a:sym typeface="Arial"/>
            </a:endParaRPr>
          </a:p>
          <a:p>
            <a:pPr indent="-298450" lvl="0" marL="457200" marR="0" rtl="0" algn="l">
              <a:lnSpc>
                <a:spcPct val="115000"/>
              </a:lnSpc>
              <a:spcBef>
                <a:spcPts val="120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Not yet in this prototype.</a:t>
            </a:r>
            <a:br>
              <a:rPr b="0" i="0" lang="en-US" sz="1100" u="none" cap="none" strike="noStrike">
                <a:solidFill>
                  <a:schemeClr val="dk1"/>
                </a:solidFill>
                <a:latin typeface="Arial"/>
                <a:ea typeface="Arial"/>
                <a:cs typeface="Arial"/>
                <a:sym typeface="Arial"/>
              </a:rPr>
            </a:br>
            <a:endParaRPr b="0" i="0" sz="1100" u="none" cap="none" strike="noStrike">
              <a:solidFill>
                <a:schemeClr val="dk1"/>
              </a:solidFill>
              <a:latin typeface="Arial"/>
              <a:ea typeface="Arial"/>
              <a:cs typeface="Arial"/>
              <a:sym typeface="Arial"/>
            </a:endParaRPr>
          </a:p>
          <a:p>
            <a:pPr indent="-298450" lvl="0" marL="457200" marR="0" rtl="0" algn="l">
              <a:lnSpc>
                <a:spcPct val="115000"/>
              </a:lnSpc>
              <a:spcBef>
                <a:spcPts val="0"/>
              </a:spcBef>
              <a:spcAft>
                <a:spcPts val="0"/>
              </a:spcAft>
              <a:buClr>
                <a:schemeClr val="dk1"/>
              </a:buClr>
              <a:buSzPts val="1100"/>
              <a:buFont typeface="Arial"/>
              <a:buChar char="●"/>
            </a:pPr>
            <a:r>
              <a:rPr b="0" i="0" lang="en-US" sz="1100" u="none" cap="none" strike="noStrike">
                <a:solidFill>
                  <a:schemeClr val="dk1"/>
                </a:solidFill>
                <a:latin typeface="Arial"/>
                <a:ea typeface="Arial"/>
                <a:cs typeface="Arial"/>
                <a:sym typeface="Arial"/>
              </a:rPr>
              <a:t>ML-based IDF curves still </a:t>
            </a:r>
            <a:r>
              <a:rPr b="1" i="0" lang="en-US" sz="1100" u="none" cap="none" strike="noStrike">
                <a:solidFill>
                  <a:schemeClr val="dk1"/>
                </a:solidFill>
                <a:latin typeface="Arial"/>
                <a:ea typeface="Arial"/>
                <a:cs typeface="Arial"/>
                <a:sym typeface="Arial"/>
              </a:rPr>
              <a:t>underestimate the highest events</a:t>
            </a:r>
            <a:r>
              <a:rPr b="0" i="0" lang="en-US" sz="1100" u="none" cap="none" strike="noStrike">
                <a:solidFill>
                  <a:schemeClr val="dk1"/>
                </a:solidFill>
                <a:latin typeface="Arial"/>
                <a:ea typeface="Arial"/>
                <a:cs typeface="Arial"/>
                <a:sym typeface="Arial"/>
              </a:rPr>
              <a:t>, and May 2024 remains outside.</a:t>
            </a:r>
            <a:br>
              <a:rPr b="0" i="0" lang="en-US" sz="1100" u="none" cap="none" strike="noStrike">
                <a:solidFill>
                  <a:schemeClr val="dk1"/>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pic>
        <p:nvPicPr>
          <p:cNvPr id="293" name="Google Shape;293;g3af26abed01_0_233" title="Code_Generated_Image (6).png"/>
          <p:cNvPicPr preferRelativeResize="0"/>
          <p:nvPr/>
        </p:nvPicPr>
        <p:blipFill rotWithShape="1">
          <a:blip r:embed="rId4">
            <a:alphaModFix/>
          </a:blip>
          <a:srcRect b="0" l="0" r="0" t="0"/>
          <a:stretch/>
        </p:blipFill>
        <p:spPr>
          <a:xfrm>
            <a:off x="1191575" y="2291266"/>
            <a:ext cx="6338776" cy="23770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Beautify this slide" id="299" name="Google Shape;299;g3af55fae002_0_10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Beautify this slide" id="305" name="Google Shape;305;g3af55fae002_0_114"/>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2010-04-12T23:12:02Z</dcterms:created>
  <dc:creator>Diana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